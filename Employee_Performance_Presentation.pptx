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72" r:id="rId5"/>
    <p:sldId id="259" r:id="rId6"/>
    <p:sldId id="260" r:id="rId7"/>
    <p:sldId id="273" r:id="rId8"/>
    <p:sldId id="261" r:id="rId9"/>
    <p:sldId id="267" r:id="rId10"/>
    <p:sldId id="274" r:id="rId11"/>
    <p:sldId id="268" r:id="rId12"/>
    <p:sldId id="262" r:id="rId13"/>
    <p:sldId id="269" r:id="rId14"/>
    <p:sldId id="263" r:id="rId15"/>
    <p:sldId id="271" r:id="rId16"/>
    <p:sldId id="264" r:id="rId17"/>
    <p:sldId id="265" r:id="rId18"/>
    <p:sldId id="266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10"/>
  </p:normalViewPr>
  <p:slideViewPr>
    <p:cSldViewPr snapToGrid="0" snapToObjects="1">
      <p:cViewPr>
        <p:scale>
          <a:sx n="94" d="100"/>
          <a:sy n="94" d="100"/>
        </p:scale>
        <p:origin x="504" y="1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836705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FDB271-1847-2FC9-A43E-9EAE1C3302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7F6CBF-AC5B-FAF4-A879-26B60C7372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10E7C7-CB29-1121-09C9-BDEAFF90D4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9E8E7B-3DAF-9FC9-0197-118825CDF3C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58562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903461-4B11-0DDD-A7D6-9CBE437333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32DA99-B10F-C55A-181F-1C1D0AACC2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0A2F83-3A4D-53DE-4A24-79D178116E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66BC7B-2832-E81C-8019-5D009E2F3C4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10842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85FD02-2AD7-5B9F-DF19-98CB7FE9E1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88068D-CB4C-908B-BDDC-03159FEF2D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D40751-03D3-7C7D-AEFC-9CC0697EA1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CE9CD7-0364-F7DE-8ED7-0041DFACEF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634840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B5E66-C01F-AD04-F439-146F15FACD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8C73F8-5234-75B7-34B7-1E0F8F2105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4FDA98-B836-25D4-0142-A4D1111DF7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C18628-2BC7-8C8A-D191-D042AD4A81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62690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A6ACF0-9423-90AA-C121-555387F29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2C41BB-C77D-4838-F29F-8A539CE16C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59530B-F5B3-5D25-C641-4033BDC594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2B17E9-02C7-9B84-CB38-15B7274FB63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179704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69B498-1F97-BFAC-774E-86135F39EE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022B52-4A02-B045-466F-B8C1E34BDD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A8A1E8-CA79-6129-18F7-C14F7189C6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46B079-5A23-2A8C-7CDA-D726FDBE5AB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776622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96FEFD-52E6-C76C-B0C0-B58AD351AD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C055FE-DCEC-C197-AA2A-4B931B001C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3593F4-3B84-8FC4-96CA-779F50ACB6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1E3163-2185-F308-C3ED-406AE1DF89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467601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1620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20040" y="0"/>
            <a:ext cx="64008" cy="5143500"/>
          </a:xfrm>
          <a:prstGeom prst="rect">
            <a:avLst/>
          </a:prstGeom>
          <a:solidFill>
            <a:srgbClr val="CADCFC">
              <a:alpha val="3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4297680"/>
            <a:ext cx="9144000" cy="845820"/>
          </a:xfrm>
          <a:prstGeom prst="rect">
            <a:avLst/>
          </a:prstGeom>
          <a:solidFill>
            <a:srgbClr val="1620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34747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8BA3E8"/>
                </a:solidFill>
              </a:rPr>
              <a:t>IT3011 — THEORY AND PRACTICES IN STATISTICAL MODELLING — STATX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62907" y="795528"/>
            <a:ext cx="80467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800" b="1" i="1" dirty="0">
                <a:solidFill>
                  <a:srgbClr val="FFFFFF"/>
                </a:solidFill>
              </a:rPr>
              <a:t>"Employees Who Receive Regular</a:t>
            </a:r>
            <a:endParaRPr lang="en-US" sz="2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2800" b="1" i="1" dirty="0">
                <a:solidFill>
                  <a:srgbClr val="FFFFFF"/>
                </a:solidFill>
              </a:rPr>
              <a:t>Feedback Perform Better Than</a:t>
            </a:r>
            <a:endParaRPr lang="en-US" sz="2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2800" b="1" i="1" dirty="0">
                <a:solidFill>
                  <a:srgbClr val="FFFFFF"/>
                </a:solidFill>
              </a:rPr>
              <a:t>Those Who Do Not"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594360" y="2487168"/>
            <a:ext cx="1280160" cy="64008"/>
          </a:xfrm>
          <a:prstGeom prst="rect">
            <a:avLst/>
          </a:prstGeom>
          <a:solidFill>
            <a:srgbClr val="CADCFC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94360" y="2633472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3355848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594360" y="38404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697480" y="3355848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2697480" y="38404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800600" y="3355848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4800600" y="38404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903720" y="3355848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6903720" y="38404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94360" y="437083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A3E8"/>
                </a:solidFill>
              </a:rPr>
              <a:t>Datasets: Employee.csv  +  PerformanceRating.csv   |   Significance level: alpha = 0.05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94360" y="45720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C3E1B05-46DD-61C7-C6C0-D2104319323E}"/>
              </a:ext>
            </a:extLst>
          </p:cNvPr>
          <p:cNvSpPr txBox="1"/>
          <p:nvPr/>
        </p:nvSpPr>
        <p:spPr>
          <a:xfrm>
            <a:off x="574256" y="3308926"/>
            <a:ext cx="63294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</a:rPr>
              <a:t>IT23698536 - WEERASINGHE N.H</a:t>
            </a:r>
          </a:p>
          <a:p>
            <a:r>
              <a:rPr lang="en-US" sz="1200" b="1" dirty="0">
                <a:solidFill>
                  <a:schemeClr val="bg1"/>
                </a:solidFill>
              </a:rPr>
              <a:t>IT23686410 - SENEVIRATHNE D.V.S</a:t>
            </a:r>
          </a:p>
          <a:p>
            <a:r>
              <a:rPr lang="en-US" sz="1200" b="1" dirty="0">
                <a:solidFill>
                  <a:schemeClr val="bg1"/>
                </a:solidFill>
              </a:rPr>
              <a:t>IT23703094 - DE SILVA W.H.P.P</a:t>
            </a:r>
          </a:p>
          <a:p>
            <a:r>
              <a:rPr lang="en-US" sz="1200" b="1" dirty="0">
                <a:solidFill>
                  <a:schemeClr val="bg1"/>
                </a:solidFill>
              </a:rPr>
              <a:t>IT23702622 - G.HARAN AKASH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320040" cy="804672"/>
          </a:xfrm>
          <a:prstGeom prst="rect">
            <a:avLst/>
          </a:prstGeom>
          <a:solidFill>
            <a:srgbClr val="1620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18872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Problem Statement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530352"/>
            <a:ext cx="7315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BA3E8"/>
                </a:solidFill>
              </a:rPr>
              <a:t>What we are investigating and why it matters</a:t>
            </a:r>
            <a:endParaRPr lang="en-US" sz="950" dirty="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B55A8252-049E-4342-8493-0D38E20B994A}"/>
              </a:ext>
            </a:extLst>
          </p:cNvPr>
          <p:cNvGrpSpPr/>
          <p:nvPr/>
        </p:nvGrpSpPr>
        <p:grpSpPr>
          <a:xfrm>
            <a:off x="228600" y="1411192"/>
            <a:ext cx="8412480" cy="777240"/>
            <a:chOff x="365760" y="914400"/>
            <a:chExt cx="8412480" cy="777240"/>
          </a:xfrm>
        </p:grpSpPr>
        <p:sp>
          <p:nvSpPr>
            <p:cNvPr id="6" name="Shape 4"/>
            <p:cNvSpPr/>
            <p:nvPr/>
          </p:nvSpPr>
          <p:spPr>
            <a:xfrm>
              <a:off x="365760" y="914400"/>
              <a:ext cx="8412480" cy="777240"/>
            </a:xfrm>
            <a:prstGeom prst="rect">
              <a:avLst/>
            </a:prstGeom>
            <a:solidFill>
              <a:srgbClr val="E6EFFE"/>
            </a:solidFill>
            <a:ln w="15240">
              <a:solidFill>
                <a:srgbClr val="1E2761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Shape 5"/>
            <p:cNvSpPr/>
            <p:nvPr/>
          </p:nvSpPr>
          <p:spPr>
            <a:xfrm>
              <a:off x="365760" y="914400"/>
              <a:ext cx="91440" cy="777240"/>
            </a:xfrm>
            <a:prstGeom prst="rect">
              <a:avLst/>
            </a:prstGeom>
            <a:solidFill>
              <a:srgbClr val="1E2761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 6"/>
            <p:cNvSpPr/>
            <p:nvPr/>
          </p:nvSpPr>
          <p:spPr>
            <a:xfrm>
              <a:off x="566928" y="987552"/>
              <a:ext cx="8046720" cy="62179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300" b="1" i="1" dirty="0">
                  <a:solidFill>
                    <a:srgbClr val="1E2761"/>
                  </a:solidFill>
                </a:rPr>
                <a:t>"Employees who receive regular feedback perform better than those who do not"</a:t>
              </a:r>
              <a:endParaRPr lang="en-US" sz="1300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AD149D7-B04F-ECB1-9CA6-1F45DEDEAB23}"/>
              </a:ext>
            </a:extLst>
          </p:cNvPr>
          <p:cNvGrpSpPr/>
          <p:nvPr/>
        </p:nvGrpSpPr>
        <p:grpSpPr>
          <a:xfrm>
            <a:off x="320040" y="2697480"/>
            <a:ext cx="4114800" cy="1757788"/>
            <a:chOff x="365760" y="1828800"/>
            <a:chExt cx="4114800" cy="1371600"/>
          </a:xfrm>
        </p:grpSpPr>
        <p:sp>
          <p:nvSpPr>
            <p:cNvPr id="9" name="Shape 7"/>
            <p:cNvSpPr/>
            <p:nvPr/>
          </p:nvSpPr>
          <p:spPr>
            <a:xfrm>
              <a:off x="365760" y="1828800"/>
              <a:ext cx="4114800" cy="137160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2E8F0"/>
              </a:solidFill>
              <a:prstDash val="solid"/>
            </a:ln>
            <a:effectLst>
              <a:outerShdw blurRad="101600" dist="254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Shape 8"/>
            <p:cNvSpPr/>
            <p:nvPr/>
          </p:nvSpPr>
          <p:spPr>
            <a:xfrm>
              <a:off x="475488" y="1920240"/>
              <a:ext cx="54864" cy="274320"/>
            </a:xfrm>
            <a:prstGeom prst="rect">
              <a:avLst/>
            </a:prstGeom>
            <a:solidFill>
              <a:srgbClr val="1E2761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 9"/>
            <p:cNvSpPr/>
            <p:nvPr/>
          </p:nvSpPr>
          <p:spPr>
            <a:xfrm>
              <a:off x="585216" y="1920240"/>
              <a:ext cx="3730752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1E2761"/>
                  </a:solidFill>
                </a:rPr>
                <a:t>Why This Matters</a:t>
              </a:r>
              <a:endParaRPr lang="en-US" sz="120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548640" y="2240280"/>
              <a:ext cx="3840480" cy="91440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342900" indent="-342900">
                <a:spcAft>
                  <a:spcPts val="500"/>
                </a:spcAft>
                <a:buSzPct val="100000"/>
                <a:buChar char="•"/>
              </a:pPr>
              <a:r>
                <a:rPr lang="en-US" sz="1050" dirty="0">
                  <a:solidFill>
                    <a:srgbClr val="1E293B"/>
                  </a:solidFill>
                </a:rPr>
                <a:t>Performance is a key business outcome in any organisation</a:t>
              </a:r>
              <a:endParaRPr lang="en-US" sz="1050" dirty="0"/>
            </a:p>
            <a:p>
              <a:pPr marL="342900" indent="-342900">
                <a:spcAft>
                  <a:spcPts val="500"/>
                </a:spcAft>
                <a:buSzPct val="100000"/>
                <a:buChar char="•"/>
              </a:pPr>
              <a:r>
                <a:rPr lang="en-US" sz="1050" dirty="0">
                  <a:solidFill>
                    <a:srgbClr val="1E293B"/>
                  </a:solidFill>
                </a:rPr>
                <a:t>If proven, organisations can invest in structured feedback programmes</a:t>
              </a:r>
              <a:endParaRPr lang="en-US" sz="1050" dirty="0"/>
            </a:p>
            <a:p>
              <a:pPr marL="342900" indent="-342900">
                <a:spcAft>
                  <a:spcPts val="500"/>
                </a:spcAft>
                <a:buSzPct val="100000"/>
                <a:buChar char="•"/>
              </a:pPr>
              <a:r>
                <a:rPr lang="en-US" sz="1050" dirty="0">
                  <a:solidFill>
                    <a:srgbClr val="1E293B"/>
                  </a:solidFill>
                </a:rPr>
                <a:t>This study tests a widely held workplace assumption using real data</a:t>
              </a:r>
              <a:endParaRPr lang="en-US" sz="1050" dirty="0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3312A065-9E84-86B6-744C-23025AD625A5}"/>
              </a:ext>
            </a:extLst>
          </p:cNvPr>
          <p:cNvGrpSpPr/>
          <p:nvPr/>
        </p:nvGrpSpPr>
        <p:grpSpPr>
          <a:xfrm>
            <a:off x="4617720" y="2697479"/>
            <a:ext cx="4114800" cy="1757787"/>
            <a:chOff x="4617720" y="2697479"/>
            <a:chExt cx="4114800" cy="1757787"/>
          </a:xfrm>
        </p:grpSpPr>
        <p:sp>
          <p:nvSpPr>
            <p:cNvPr id="13" name="Shape 11"/>
            <p:cNvSpPr/>
            <p:nvPr/>
          </p:nvSpPr>
          <p:spPr>
            <a:xfrm>
              <a:off x="4617720" y="2697479"/>
              <a:ext cx="4114800" cy="175778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2E8F0"/>
              </a:solidFill>
              <a:prstDash val="solid"/>
            </a:ln>
            <a:effectLst>
              <a:outerShdw blurRad="101600" dist="254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4" name="Shape 12"/>
            <p:cNvSpPr/>
            <p:nvPr/>
          </p:nvSpPr>
          <p:spPr>
            <a:xfrm>
              <a:off x="4727448" y="2814665"/>
              <a:ext cx="54864" cy="351557"/>
            </a:xfrm>
            <a:prstGeom prst="rect">
              <a:avLst/>
            </a:prstGeom>
            <a:solidFill>
              <a:srgbClr val="1E2761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 13"/>
            <p:cNvSpPr/>
            <p:nvPr/>
          </p:nvSpPr>
          <p:spPr>
            <a:xfrm>
              <a:off x="4837176" y="2814665"/>
              <a:ext cx="3730752" cy="351557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1E2761"/>
                  </a:solidFill>
                </a:rPr>
                <a:t>Hypotheses</a:t>
              </a:r>
              <a:endParaRPr lang="en-US" sz="1200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4727448" y="3224815"/>
              <a:ext cx="3886200" cy="117185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1100" b="1" dirty="0">
                  <a:solidFill>
                    <a:srgbClr val="1E2761"/>
                  </a:solidFill>
                </a:rPr>
                <a:t>H0: </a:t>
              </a:r>
              <a:r>
                <a:rPr lang="en-US" sz="1050" dirty="0">
                  <a:solidFill>
                    <a:srgbClr val="1E293B"/>
                  </a:solidFill>
                </a:rPr>
                <a:t>No significant difference in </a:t>
              </a:r>
              <a:r>
                <a:rPr lang="en-US" sz="1050" dirty="0"/>
                <a:t>exists between the two groups. </a:t>
              </a:r>
              <a:r>
                <a:rPr lang="en-US" sz="1050" dirty="0">
                  <a:solidFill>
                    <a:srgbClr val="1E293B"/>
                  </a:solidFill>
                </a:rPr>
                <a:t>
</a:t>
              </a:r>
              <a:r>
                <a:rPr lang="en-US" sz="1100" b="1" dirty="0">
                  <a:solidFill>
                    <a:srgbClr val="0D9488"/>
                  </a:solidFill>
                </a:rPr>
                <a:t>H1: </a:t>
              </a:r>
              <a:r>
                <a:rPr lang="en-US" sz="1050" dirty="0">
                  <a:solidFill>
                    <a:srgbClr val="1E293B"/>
                  </a:solidFill>
                </a:rPr>
                <a:t>Regular feedback group has significantly higher performance.
</a:t>
              </a:r>
              <a:r>
                <a:rPr lang="en-US" sz="1000" i="1" dirty="0">
                  <a:solidFill>
                    <a:srgbClr val="64748B"/>
                  </a:solidFill>
                </a:rPr>
                <a:t>Significance level: alpha = 0.05</a:t>
              </a:r>
              <a:endParaRPr lang="en-US" sz="1100" dirty="0"/>
            </a:p>
          </p:txBody>
        </p:sp>
      </p:grpSp>
      <p:sp>
        <p:nvSpPr>
          <p:cNvPr id="18" name="Text 16"/>
          <p:cNvSpPr/>
          <p:nvPr/>
        </p:nvSpPr>
        <p:spPr>
          <a:xfrm>
            <a:off x="365760" y="388620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320040" cy="804672"/>
          </a:xfrm>
          <a:prstGeom prst="rect">
            <a:avLst/>
          </a:prstGeom>
          <a:solidFill>
            <a:srgbClr val="1620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18872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Objectives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530352"/>
            <a:ext cx="7315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BA3E8"/>
                </a:solidFill>
              </a:rPr>
              <a:t>What this assignment sets out to achieve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420624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502920" cy="9601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65760" y="1216152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ADCFC"/>
                </a:solidFill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60120" y="10515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</a:rPr>
              <a:t>Data Collection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60120" y="1362456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Collect and merge two secondary datasets using R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65760" y="2011680"/>
            <a:ext cx="420624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65760" y="2011680"/>
            <a:ext cx="502920" cy="9601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65760" y="2267712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ADCFC"/>
                </a:solidFill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60120" y="21031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</a:rPr>
              <a:t>Preprocessing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60120" y="2414016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Clean data, check missing values, engineer variables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3063240"/>
            <a:ext cx="420624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65760" y="3063240"/>
            <a:ext cx="502920" cy="9601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65760" y="3319272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ADCFC"/>
                </a:solidFill>
              </a:rPr>
              <a:t>03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60120" y="31546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</a:rPr>
              <a:t>Descriptive Analytics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60120" y="3465576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Summarise and compare performance across feedback groups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65760" y="4114800"/>
            <a:ext cx="420624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65760" y="4114800"/>
            <a:ext cx="502920" cy="9601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65760" y="4370832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ADCFC"/>
                </a:solidFill>
              </a:rPr>
              <a:t>04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60120" y="42062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</a:rPr>
              <a:t>Time Series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60120" y="4517136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Track performance trends over 10 years of review data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800600" y="960120"/>
            <a:ext cx="420624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800600" y="960120"/>
            <a:ext cx="502920" cy="9601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800600" y="1216152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ADCFC"/>
                </a:solidFill>
              </a:rPr>
              <a:t>05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394960" y="10515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</a:rPr>
              <a:t>Inferential Analytics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394960" y="1362456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Run 4 statistical tests to test the hypothesis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800600" y="2011680"/>
            <a:ext cx="420624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800600" y="2011680"/>
            <a:ext cx="502920" cy="9601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800600" y="2267712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ADCFC"/>
                </a:solidFill>
              </a:rPr>
              <a:t>06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394960" y="21031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</a:rPr>
              <a:t>Predictive Analytics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394960" y="2414016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Build regression models to predict performance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800600" y="3063240"/>
            <a:ext cx="420624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4800600" y="3063240"/>
            <a:ext cx="502920" cy="9601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800600" y="3319272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ADCFC"/>
                </a:solidFill>
              </a:rPr>
              <a:t>07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5394960" y="31546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</a:rPr>
              <a:t>Final Decision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394960" y="3465576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Justify conclusion based on statistical evidence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C3F212-D196-0D98-8150-AA86982AC9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3AFE592-8799-186F-8230-3312AEEDBD71}"/>
              </a:ext>
            </a:extLst>
          </p:cNvPr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511F9B42-7B2D-D1E4-FBA0-82964DF1259A}"/>
              </a:ext>
            </a:extLst>
          </p:cNvPr>
          <p:cNvSpPr/>
          <p:nvPr/>
        </p:nvSpPr>
        <p:spPr>
          <a:xfrm>
            <a:off x="0" y="0"/>
            <a:ext cx="320040" cy="804672"/>
          </a:xfrm>
          <a:prstGeom prst="rect">
            <a:avLst/>
          </a:prstGeom>
          <a:solidFill>
            <a:srgbClr val="1620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820EE00-E860-1F0E-4C46-088CD03F6C01}"/>
              </a:ext>
            </a:extLst>
          </p:cNvPr>
          <p:cNvSpPr/>
          <p:nvPr/>
        </p:nvSpPr>
        <p:spPr>
          <a:xfrm>
            <a:off x="457200" y="118872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Data Collection</a:t>
            </a:r>
            <a:endParaRPr lang="en-US" sz="20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3259D88-1EE3-2777-0AE1-0279F94B1FC3}"/>
              </a:ext>
            </a:extLst>
          </p:cNvPr>
          <p:cNvSpPr/>
          <p:nvPr/>
        </p:nvSpPr>
        <p:spPr>
          <a:xfrm>
            <a:off x="457200" y="530352"/>
            <a:ext cx="7315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BA3E8"/>
                </a:solidFill>
              </a:rPr>
              <a:t>Secondary datasets provided for the module</a:t>
            </a:r>
            <a:endParaRPr lang="en-US" sz="95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BE0D3C50-0CA7-7AD0-A107-9197DAC9B4F8}"/>
              </a:ext>
            </a:extLst>
          </p:cNvPr>
          <p:cNvSpPr/>
          <p:nvPr/>
        </p:nvSpPr>
        <p:spPr>
          <a:xfrm>
            <a:off x="365760" y="960120"/>
            <a:ext cx="4160520" cy="1546013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581BFFD5-CA58-C85D-FF40-B6481899EACA}"/>
              </a:ext>
            </a:extLst>
          </p:cNvPr>
          <p:cNvSpPr/>
          <p:nvPr/>
        </p:nvSpPr>
        <p:spPr>
          <a:xfrm>
            <a:off x="365760" y="960120"/>
            <a:ext cx="4160520" cy="29260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EA174819-BF52-9150-073A-F4CD8F31471D}"/>
              </a:ext>
            </a:extLst>
          </p:cNvPr>
          <p:cNvSpPr/>
          <p:nvPr/>
        </p:nvSpPr>
        <p:spPr>
          <a:xfrm>
            <a:off x="475488" y="987552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Dataset 1 — Employee.csv</a:t>
            </a:r>
            <a:endParaRPr lang="en-US" sz="11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771B9D13-2812-6142-70CD-1F10CE9FAB64}"/>
              </a:ext>
            </a:extLst>
          </p:cNvPr>
          <p:cNvSpPr/>
          <p:nvPr/>
        </p:nvSpPr>
        <p:spPr>
          <a:xfrm>
            <a:off x="475488" y="1316736"/>
            <a:ext cx="3913632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1,470 employee records  |  23 variables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Key variables: EmployeeID, Department,</a:t>
            </a:r>
            <a:endParaRPr lang="en-US" sz="1050" dirty="0"/>
          </a:p>
          <a:p>
            <a:pPr>
              <a:spcAft>
                <a:spcPts val="500"/>
              </a:spcAft>
              <a:buSzPct val="100000"/>
            </a:pPr>
            <a:r>
              <a:rPr lang="en-US" sz="1050" dirty="0">
                <a:solidFill>
                  <a:srgbClr val="1E293B"/>
                </a:solidFill>
              </a:rPr>
              <a:t>JobRole, Age, Salary, YearsAtCompany, Attrition</a:t>
            </a:r>
            <a:endParaRPr lang="en-US" sz="105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6FE67006-9641-9CC5-BCF2-D303603B274E}"/>
              </a:ext>
            </a:extLst>
          </p:cNvPr>
          <p:cNvSpPr/>
          <p:nvPr/>
        </p:nvSpPr>
        <p:spPr>
          <a:xfrm>
            <a:off x="4663440" y="960120"/>
            <a:ext cx="4114800" cy="1546013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F94E61E0-AC7C-3E39-D543-5122A168C2B7}"/>
              </a:ext>
            </a:extLst>
          </p:cNvPr>
          <p:cNvSpPr/>
          <p:nvPr/>
        </p:nvSpPr>
        <p:spPr>
          <a:xfrm>
            <a:off x="4663440" y="960120"/>
            <a:ext cx="4114800" cy="29260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F9FCAED8-A7F5-34FF-4FB9-810A94C14FDA}"/>
              </a:ext>
            </a:extLst>
          </p:cNvPr>
          <p:cNvSpPr/>
          <p:nvPr/>
        </p:nvSpPr>
        <p:spPr>
          <a:xfrm>
            <a:off x="4773168" y="987552"/>
            <a:ext cx="3886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Dataset 2 — PerformanceRating.csv</a:t>
            </a:r>
            <a:endParaRPr lang="en-US" sz="11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FC819A68-2CC4-295F-5022-6892E0242065}"/>
              </a:ext>
            </a:extLst>
          </p:cNvPr>
          <p:cNvSpPr/>
          <p:nvPr/>
        </p:nvSpPr>
        <p:spPr>
          <a:xfrm>
            <a:off x="4773168" y="1316736"/>
            <a:ext cx="388620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6,709 review records  |  11 variables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Key variables: EmployeeID, </a:t>
            </a:r>
            <a:r>
              <a:rPr lang="en-US" sz="1050" dirty="0" err="1">
                <a:solidFill>
                  <a:srgbClr val="1E293B"/>
                </a:solidFill>
              </a:rPr>
              <a:t>ManagerRating,SelfRating</a:t>
            </a:r>
            <a:r>
              <a:rPr lang="en-US" sz="1050" dirty="0">
                <a:solidFill>
                  <a:srgbClr val="1E293B"/>
                </a:solidFill>
              </a:rPr>
              <a:t>,</a:t>
            </a:r>
          </a:p>
          <a:p>
            <a:pPr>
              <a:spcAft>
                <a:spcPts val="500"/>
              </a:spcAft>
              <a:buSzPct val="100000"/>
            </a:pPr>
            <a:r>
              <a:rPr lang="en-US" sz="1050" dirty="0">
                <a:solidFill>
                  <a:srgbClr val="1E293B"/>
                </a:solidFill>
              </a:rPr>
              <a:t> </a:t>
            </a:r>
            <a:r>
              <a:rPr lang="en-US" sz="1050" dirty="0" err="1">
                <a:solidFill>
                  <a:srgbClr val="1E293B"/>
                </a:solidFill>
              </a:rPr>
              <a:t>TrainingOpportunitiesWithinYear,TrainingOpportunitiesTaken</a:t>
            </a:r>
            <a:r>
              <a:rPr lang="en-US" sz="1050" dirty="0">
                <a:solidFill>
                  <a:srgbClr val="1E293B"/>
                </a:solidFill>
              </a:rPr>
              <a:t>,</a:t>
            </a:r>
          </a:p>
          <a:p>
            <a:pPr>
              <a:spcAft>
                <a:spcPts val="500"/>
              </a:spcAft>
              <a:buSzPct val="100000"/>
            </a:pPr>
            <a:r>
              <a:rPr lang="en-US" sz="1050" dirty="0">
                <a:solidFill>
                  <a:srgbClr val="1E293B"/>
                </a:solidFill>
              </a:rPr>
              <a:t> ReviewDate</a:t>
            </a:r>
            <a:endParaRPr lang="en-US" sz="1050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341311A0-10FE-5271-929D-992B8E8C7363}"/>
              </a:ext>
            </a:extLst>
          </p:cNvPr>
          <p:cNvGrpSpPr/>
          <p:nvPr/>
        </p:nvGrpSpPr>
        <p:grpSpPr>
          <a:xfrm>
            <a:off x="320040" y="4022174"/>
            <a:ext cx="8412480" cy="777240"/>
            <a:chOff x="365760" y="3246120"/>
            <a:chExt cx="8412480" cy="777240"/>
          </a:xfrm>
        </p:grpSpPr>
        <p:sp>
          <p:nvSpPr>
            <p:cNvPr id="14" name="Shape 12">
              <a:extLst>
                <a:ext uri="{FF2B5EF4-FFF2-40B4-BE49-F238E27FC236}">
                  <a16:creationId xmlns:a16="http://schemas.microsoft.com/office/drawing/2014/main" id="{A82BA72D-D49F-2A20-AC20-2E2205710163}"/>
                </a:ext>
              </a:extLst>
            </p:cNvPr>
            <p:cNvSpPr/>
            <p:nvPr/>
          </p:nvSpPr>
          <p:spPr>
            <a:xfrm>
              <a:off x="365760" y="3246120"/>
              <a:ext cx="8412480" cy="777240"/>
            </a:xfrm>
            <a:prstGeom prst="rect">
              <a:avLst/>
            </a:prstGeom>
            <a:solidFill>
              <a:srgbClr val="E6EFFE"/>
            </a:solidFill>
            <a:ln w="6350">
              <a:solidFill>
                <a:srgbClr val="E2E8F0"/>
              </a:solidFill>
              <a:prstDash val="solid"/>
            </a:ln>
            <a:effectLst>
              <a:outerShdw blurRad="101600" dist="254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Shape 13">
              <a:extLst>
                <a:ext uri="{FF2B5EF4-FFF2-40B4-BE49-F238E27FC236}">
                  <a16:creationId xmlns:a16="http://schemas.microsoft.com/office/drawing/2014/main" id="{57915097-ADFA-C563-E0C5-D1B05C494D13}"/>
                </a:ext>
              </a:extLst>
            </p:cNvPr>
            <p:cNvSpPr/>
            <p:nvPr/>
          </p:nvSpPr>
          <p:spPr>
            <a:xfrm>
              <a:off x="475488" y="3337560"/>
              <a:ext cx="54864" cy="274320"/>
            </a:xfrm>
            <a:prstGeom prst="rect">
              <a:avLst/>
            </a:prstGeom>
            <a:solidFill>
              <a:srgbClr val="1E2761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 14">
              <a:extLst>
                <a:ext uri="{FF2B5EF4-FFF2-40B4-BE49-F238E27FC236}">
                  <a16:creationId xmlns:a16="http://schemas.microsoft.com/office/drawing/2014/main" id="{414E0232-5830-7F41-3193-F59D193400C9}"/>
                </a:ext>
              </a:extLst>
            </p:cNvPr>
            <p:cNvSpPr/>
            <p:nvPr/>
          </p:nvSpPr>
          <p:spPr>
            <a:xfrm>
              <a:off x="585216" y="3337560"/>
              <a:ext cx="4005072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1E2761"/>
                  </a:solidFill>
                </a:rPr>
                <a:t>Key Variables Selected</a:t>
              </a:r>
              <a:endParaRPr lang="en-US" sz="1200" dirty="0"/>
            </a:p>
          </p:txBody>
        </p:sp>
        <p:sp>
          <p:nvSpPr>
            <p:cNvPr id="17" name="Text 15">
              <a:extLst>
                <a:ext uri="{FF2B5EF4-FFF2-40B4-BE49-F238E27FC236}">
                  <a16:creationId xmlns:a16="http://schemas.microsoft.com/office/drawing/2014/main" id="{347C73F0-9746-AC74-4F10-E1243B516507}"/>
                </a:ext>
              </a:extLst>
            </p:cNvPr>
            <p:cNvSpPr/>
            <p:nvPr/>
          </p:nvSpPr>
          <p:spPr>
            <a:xfrm>
              <a:off x="475488" y="3639312"/>
              <a:ext cx="8229600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50" b="1" dirty="0">
                  <a:solidFill>
                    <a:srgbClr val="1E2761"/>
                  </a:solidFill>
                </a:rPr>
                <a:t>Independent Variable (IV):  </a:t>
              </a:r>
              <a:r>
                <a:rPr lang="en-US" sz="1050" dirty="0">
                  <a:solidFill>
                    <a:srgbClr val="1E293B"/>
                  </a:solidFill>
                </a:rPr>
                <a:t>TrainingOpportunitiesWithinYear - proxy for regular feedback
</a:t>
              </a:r>
              <a:r>
                <a:rPr lang="en-US" sz="1050" b="1" dirty="0">
                  <a:solidFill>
                    <a:srgbClr val="1E2761"/>
                  </a:solidFill>
                </a:rPr>
                <a:t>Dependent Variable (DV):     </a:t>
              </a:r>
              <a:r>
                <a:rPr lang="en-US" sz="1050" dirty="0">
                  <a:solidFill>
                    <a:srgbClr val="1E293B"/>
                  </a:solidFill>
                </a:rPr>
                <a:t>ManagerRating (scale 2-5) - measure of performance</a:t>
              </a:r>
              <a:endParaRPr lang="en-US" sz="1050" dirty="0"/>
            </a:p>
          </p:txBody>
        </p:sp>
      </p:grpSp>
      <p:sp>
        <p:nvSpPr>
          <p:cNvPr id="19" name="Text 17">
            <a:extLst>
              <a:ext uri="{FF2B5EF4-FFF2-40B4-BE49-F238E27FC236}">
                <a16:creationId xmlns:a16="http://schemas.microsoft.com/office/drawing/2014/main" id="{E7954DF7-33FE-161E-0C2E-95E8A4F37F36}"/>
              </a:ext>
            </a:extLst>
          </p:cNvPr>
          <p:cNvSpPr/>
          <p:nvPr/>
        </p:nvSpPr>
        <p:spPr>
          <a:xfrm>
            <a:off x="365760" y="432511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20851CC-D612-88CA-1CB8-D5D05BA62A92}"/>
              </a:ext>
            </a:extLst>
          </p:cNvPr>
          <p:cNvSpPr txBox="1"/>
          <p:nvPr/>
        </p:nvSpPr>
        <p:spPr>
          <a:xfrm>
            <a:off x="365760" y="2709333"/>
            <a:ext cx="8366760" cy="116955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000" b="1" dirty="0"/>
              <a:t>Why two datasets? </a:t>
            </a:r>
          </a:p>
          <a:p>
            <a:r>
              <a:rPr lang="en-US" sz="1000" dirty="0"/>
              <a:t>Because employee personal information and performance review information were stored separately. Each employee can have multiple reviews  that is why </a:t>
            </a:r>
            <a:r>
              <a:rPr lang="en-US" sz="1000" dirty="0" err="1"/>
              <a:t>PerformanceRating</a:t>
            </a:r>
            <a:r>
              <a:rPr lang="en-US" sz="1000" dirty="0"/>
              <a:t> has more rows than Employee. </a:t>
            </a:r>
          </a:p>
          <a:p>
            <a:endParaRPr lang="en-US" sz="1000" dirty="0"/>
          </a:p>
          <a:p>
            <a:r>
              <a:rPr lang="en-US" sz="1000" b="1" dirty="0"/>
              <a:t>How did you merge them? </a:t>
            </a:r>
          </a:p>
          <a:p>
            <a:r>
              <a:rPr lang="en-US" sz="1000" dirty="0"/>
              <a:t>Using </a:t>
            </a:r>
            <a:r>
              <a:rPr lang="en-US" sz="1000" dirty="0" err="1"/>
              <a:t>inner_join</a:t>
            </a:r>
            <a:r>
              <a:rPr lang="en-US" sz="1000" dirty="0"/>
              <a:t>() on </a:t>
            </a:r>
            <a:r>
              <a:rPr lang="en-US" sz="1000" dirty="0" err="1"/>
              <a:t>EmployeeID</a:t>
            </a:r>
            <a:r>
              <a:rPr lang="en-US" sz="1000" dirty="0"/>
              <a:t> — the common </a:t>
            </a:r>
            <a:r>
              <a:rPr lang="en-US" sz="1050" dirty="0"/>
              <a:t>column</a:t>
            </a:r>
            <a:r>
              <a:rPr lang="en-US" sz="1000" dirty="0"/>
              <a:t> in both files. Inner join keeps only rows where </a:t>
            </a:r>
            <a:r>
              <a:rPr lang="en-US" sz="1000" dirty="0" err="1"/>
              <a:t>EmployeeID</a:t>
            </a:r>
            <a:r>
              <a:rPr lang="en-US" sz="1000" dirty="0"/>
              <a:t> exists in BOTH datasets. Result was 6,709 rows.</a:t>
            </a:r>
          </a:p>
        </p:txBody>
      </p:sp>
    </p:spTree>
    <p:extLst>
      <p:ext uri="{BB962C8B-B14F-4D97-AF65-F5344CB8AC3E}">
        <p14:creationId xmlns:p14="http://schemas.microsoft.com/office/powerpoint/2010/main" val="8283377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320040" cy="804672"/>
          </a:xfrm>
          <a:prstGeom prst="rect">
            <a:avLst/>
          </a:prstGeom>
          <a:solidFill>
            <a:srgbClr val="1620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18872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Data Cleaning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530352"/>
            <a:ext cx="7315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BA3E8"/>
                </a:solidFill>
              </a:rPr>
              <a:t>Secondary datasets provided for the module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65759" y="960119"/>
            <a:ext cx="7586749" cy="3521825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1200" dirty="0"/>
          </a:p>
          <a:p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Removed duplicate records using distinct()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Handled missing values: </a:t>
            </a:r>
          </a:p>
          <a:p>
            <a:pPr lvl="1"/>
            <a:r>
              <a:rPr lang="en-US" sz="1200" dirty="0"/>
              <a:t>Numeric variables → Median imputation </a:t>
            </a:r>
          </a:p>
          <a:p>
            <a:pPr lvl="1"/>
            <a:r>
              <a:rPr lang="en-US" sz="1200" dirty="0"/>
              <a:t>Categorical variables → Mode imputation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Validated data ranges (Ratings kept between 1-5)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Standardized text fields using trimming functions (</a:t>
            </a:r>
            <a:r>
              <a:rPr lang="en-US" sz="1200" dirty="0" err="1"/>
              <a:t>trimws</a:t>
            </a:r>
            <a:r>
              <a:rPr lang="en-US" sz="1200" dirty="0"/>
              <a:t>)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Ensured dataset consistency before analysis </a:t>
            </a:r>
          </a:p>
          <a:p>
            <a:br>
              <a:rPr lang="en-US" sz="1200" dirty="0"/>
            </a:br>
            <a:endParaRPr lang="en-US" sz="1200" dirty="0"/>
          </a:p>
          <a:p>
            <a:r>
              <a:rPr lang="en-US" sz="1200" b="1" dirty="0"/>
              <a:t>Outcome: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No missing values remain after cleaning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Data is consistent and suitable for statistical modelling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Improved reliability of inferential and predictive analysis</a:t>
            </a:r>
          </a:p>
          <a:p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7586748" cy="356616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Key Steps: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75488" y="987552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5488" y="1316736"/>
            <a:ext cx="3913632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500"/>
              </a:spcAft>
              <a:buSzPct val="100000"/>
            </a:pP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773168" y="987552"/>
            <a:ext cx="3886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73168" y="1316736"/>
            <a:ext cx="388620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65760" y="432511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320040" cy="804672"/>
          </a:xfrm>
          <a:prstGeom prst="rect">
            <a:avLst/>
          </a:prstGeom>
          <a:solidFill>
            <a:srgbClr val="1620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18872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Data Preprocessing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530352"/>
            <a:ext cx="7315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BA3E8"/>
                </a:solidFill>
              </a:rPr>
              <a:t>Merging, cleaning, and preparing data for analysis in R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65760" y="932688"/>
            <a:ext cx="841248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932688"/>
            <a:ext cx="457200" cy="713232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65760" y="1097280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32688" y="100584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</a:rPr>
              <a:t>Merge Datasets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32688" y="1280160"/>
            <a:ext cx="7680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inner_join() on </a:t>
            </a:r>
            <a:r>
              <a:rPr lang="en-US" sz="950" dirty="0" err="1">
                <a:solidFill>
                  <a:srgbClr val="64748B"/>
                </a:solidFill>
              </a:rPr>
              <a:t>EmployeeID</a:t>
            </a:r>
            <a:r>
              <a:rPr lang="en-US" sz="950" dirty="0">
                <a:solidFill>
                  <a:srgbClr val="64748B"/>
                </a:solidFill>
              </a:rPr>
              <a:t> - combines both files into 6,709 rows with all variables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65760" y="1737360"/>
            <a:ext cx="841248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65760" y="1737360"/>
            <a:ext cx="457200" cy="71323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65760" y="1901952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32688" y="181051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</a:rPr>
              <a:t>Missing Value Check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32688" y="2084832"/>
            <a:ext cx="7680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is.na() on all key columns - result: 0 missing values found in every column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542032"/>
            <a:ext cx="841248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65760" y="2542032"/>
            <a:ext cx="457200" cy="713232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65760" y="2706624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32688" y="2615184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706"/>
                </a:solidFill>
              </a:rPr>
              <a:t>Feature Engineering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32688" y="2889504"/>
            <a:ext cx="7680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FeedbackGroup: sessions &gt;= 2 = Regular Feedback, 1 = No Regular Feedback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HighPerformer: ManagerRating &gt;= 4 = High, below 4 = Low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65760" y="3346704"/>
            <a:ext cx="841248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65760" y="3346704"/>
            <a:ext cx="457200" cy="713232"/>
          </a:xfrm>
          <a:prstGeom prst="rect">
            <a:avLst/>
          </a:prstGeom>
          <a:solidFill>
            <a:srgbClr val="5B21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65760" y="3511296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32688" y="3419856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B21B6"/>
                </a:solidFill>
              </a:rPr>
              <a:t>Date Conversion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32688" y="3694176"/>
            <a:ext cx="7680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ReviewDate converted to proper date format. Year extracted for time series analysis (2013-2022)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65760" y="4151376"/>
            <a:ext cx="841248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365760" y="4151376"/>
            <a:ext cx="457200" cy="713232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65760" y="4315968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32688" y="422452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C2626"/>
                </a:solidFill>
              </a:rPr>
              <a:t>Normality Check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932688" y="4498848"/>
            <a:ext cx="7680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Histogram + Q-Q plot confirmed ManagerRating is approximately normal - validates use of t-test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65760" y="4983480"/>
            <a:ext cx="8412480" cy="0"/>
          </a:xfrm>
          <a:prstGeom prst="rect">
            <a:avLst/>
          </a:prstGeom>
          <a:solidFill>
            <a:srgbClr val="EEF2FF"/>
          </a:solidFill>
          <a:ln w="19050">
            <a:solidFill>
              <a:srgbClr val="CADCFC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65760" y="480060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16DDE33-31BB-B1A9-5C62-9E74115474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5A057B8-A0A2-B75A-BE4D-624A433A919C}"/>
              </a:ext>
            </a:extLst>
          </p:cNvPr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64DD692B-5004-519F-8EC4-C492A93C015E}"/>
              </a:ext>
            </a:extLst>
          </p:cNvPr>
          <p:cNvSpPr/>
          <p:nvPr/>
        </p:nvSpPr>
        <p:spPr>
          <a:xfrm>
            <a:off x="0" y="0"/>
            <a:ext cx="320040" cy="804672"/>
          </a:xfrm>
          <a:prstGeom prst="rect">
            <a:avLst/>
          </a:prstGeom>
          <a:solidFill>
            <a:srgbClr val="1620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AED2F6B-9D71-1076-530F-E2286F722F3C}"/>
              </a:ext>
            </a:extLst>
          </p:cNvPr>
          <p:cNvSpPr/>
          <p:nvPr/>
        </p:nvSpPr>
        <p:spPr>
          <a:xfrm>
            <a:off x="457200" y="118872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Data Preprocessing</a:t>
            </a:r>
            <a:endParaRPr lang="en-US" sz="20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A788C13-9811-F6A6-4A3D-04AB75A89550}"/>
              </a:ext>
            </a:extLst>
          </p:cNvPr>
          <p:cNvSpPr/>
          <p:nvPr/>
        </p:nvSpPr>
        <p:spPr>
          <a:xfrm>
            <a:off x="457200" y="530352"/>
            <a:ext cx="7315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BA3E8"/>
                </a:solidFill>
              </a:rPr>
              <a:t>Merging, cleaning, and preparing data for analysis in R</a:t>
            </a:r>
            <a:endParaRPr lang="en-US" sz="95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A1F48FBF-5FC4-F9D6-AFF6-7468A03C3133}"/>
              </a:ext>
            </a:extLst>
          </p:cNvPr>
          <p:cNvSpPr/>
          <p:nvPr/>
        </p:nvSpPr>
        <p:spPr>
          <a:xfrm>
            <a:off x="365760" y="1097280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CE275234-D26A-503F-4860-3B0AE6441078}"/>
              </a:ext>
            </a:extLst>
          </p:cNvPr>
          <p:cNvSpPr/>
          <p:nvPr/>
        </p:nvSpPr>
        <p:spPr>
          <a:xfrm>
            <a:off x="932688" y="100584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23F61799-F8D8-92BE-DE40-2CACF385F03D}"/>
              </a:ext>
            </a:extLst>
          </p:cNvPr>
          <p:cNvSpPr/>
          <p:nvPr/>
        </p:nvSpPr>
        <p:spPr>
          <a:xfrm>
            <a:off x="365760" y="1901952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84925332-5C3A-CD5E-72B7-69223E0E9B47}"/>
              </a:ext>
            </a:extLst>
          </p:cNvPr>
          <p:cNvSpPr/>
          <p:nvPr/>
        </p:nvSpPr>
        <p:spPr>
          <a:xfrm>
            <a:off x="932688" y="181051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2782D1B2-F48C-A6C3-ED54-A35201117AC5}"/>
              </a:ext>
            </a:extLst>
          </p:cNvPr>
          <p:cNvSpPr/>
          <p:nvPr/>
        </p:nvSpPr>
        <p:spPr>
          <a:xfrm>
            <a:off x="932688" y="1216152"/>
            <a:ext cx="7680960" cy="2688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62F55808-0E9E-D1C8-9FDC-3F820CC0E36D}"/>
              </a:ext>
            </a:extLst>
          </p:cNvPr>
          <p:cNvSpPr/>
          <p:nvPr/>
        </p:nvSpPr>
        <p:spPr>
          <a:xfrm>
            <a:off x="365760" y="2706624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A58ED70F-FDFE-4803-838F-5498A5062F39}"/>
              </a:ext>
            </a:extLst>
          </p:cNvPr>
          <p:cNvSpPr/>
          <p:nvPr/>
        </p:nvSpPr>
        <p:spPr>
          <a:xfrm>
            <a:off x="932688" y="2615184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02D9E1F3-2165-AB5D-CB72-C41A7094AA67}"/>
              </a:ext>
            </a:extLst>
          </p:cNvPr>
          <p:cNvSpPr/>
          <p:nvPr/>
        </p:nvSpPr>
        <p:spPr>
          <a:xfrm>
            <a:off x="932688" y="2889504"/>
            <a:ext cx="7680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9F5DE8D4-0C00-89E1-9917-42A7008F3093}"/>
              </a:ext>
            </a:extLst>
          </p:cNvPr>
          <p:cNvSpPr/>
          <p:nvPr/>
        </p:nvSpPr>
        <p:spPr>
          <a:xfrm>
            <a:off x="365760" y="3511296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F7CC51EC-B0FE-8A56-DF0C-CB3EACB6671C}"/>
              </a:ext>
            </a:extLst>
          </p:cNvPr>
          <p:cNvSpPr/>
          <p:nvPr/>
        </p:nvSpPr>
        <p:spPr>
          <a:xfrm>
            <a:off x="932688" y="3419856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9092ACEE-974F-8672-D16E-2F7FC0107416}"/>
              </a:ext>
            </a:extLst>
          </p:cNvPr>
          <p:cNvSpPr/>
          <p:nvPr/>
        </p:nvSpPr>
        <p:spPr>
          <a:xfrm>
            <a:off x="932688" y="3694176"/>
            <a:ext cx="7680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56D4C024-405C-0D29-F388-9C98BD91A554}"/>
              </a:ext>
            </a:extLst>
          </p:cNvPr>
          <p:cNvSpPr/>
          <p:nvPr/>
        </p:nvSpPr>
        <p:spPr>
          <a:xfrm>
            <a:off x="365760" y="4315968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65761D18-A73E-DCB0-C50E-21A00D5F9387}"/>
              </a:ext>
            </a:extLst>
          </p:cNvPr>
          <p:cNvSpPr/>
          <p:nvPr/>
        </p:nvSpPr>
        <p:spPr>
          <a:xfrm>
            <a:off x="932688" y="422452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19BE309F-E8D7-8C62-B371-B4EE45C67581}"/>
              </a:ext>
            </a:extLst>
          </p:cNvPr>
          <p:cNvSpPr/>
          <p:nvPr/>
        </p:nvSpPr>
        <p:spPr>
          <a:xfrm>
            <a:off x="960120" y="4663440"/>
            <a:ext cx="7680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F0048A1C-D1DD-D72A-0BF1-A46D0DD90F6C}"/>
              </a:ext>
            </a:extLst>
          </p:cNvPr>
          <p:cNvSpPr/>
          <p:nvPr/>
        </p:nvSpPr>
        <p:spPr>
          <a:xfrm>
            <a:off x="365760" y="4983480"/>
            <a:ext cx="8412480" cy="0"/>
          </a:xfrm>
          <a:prstGeom prst="rect">
            <a:avLst/>
          </a:prstGeom>
          <a:solidFill>
            <a:srgbClr val="EEF2FF"/>
          </a:solidFill>
          <a:ln w="19050">
            <a:solidFill>
              <a:srgbClr val="CADCFC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63A4B72B-ABFB-F5E9-CECE-B3D93093D41C}"/>
              </a:ext>
            </a:extLst>
          </p:cNvPr>
          <p:cNvSpPr/>
          <p:nvPr/>
        </p:nvSpPr>
        <p:spPr>
          <a:xfrm>
            <a:off x="365760" y="480060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A6C1946-0D2F-EE73-A02F-F7034C68E8CD}"/>
              </a:ext>
            </a:extLst>
          </p:cNvPr>
          <p:cNvSpPr txBox="1"/>
          <p:nvPr/>
        </p:nvSpPr>
        <p:spPr>
          <a:xfrm>
            <a:off x="169333" y="1086728"/>
            <a:ext cx="8852747" cy="330859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b="1" dirty="0"/>
              <a:t>Feature Engineering</a:t>
            </a:r>
          </a:p>
          <a:p>
            <a:endParaRPr lang="en-US" sz="1100" b="1" dirty="0"/>
          </a:p>
          <a:p>
            <a:r>
              <a:rPr lang="en-US" sz="1100" b="1" dirty="0"/>
              <a:t>What is feature engineering?				</a:t>
            </a:r>
            <a:endParaRPr lang="en-US" sz="1100" dirty="0"/>
          </a:p>
          <a:p>
            <a:r>
              <a:rPr lang="en-US" sz="1100" dirty="0"/>
              <a:t>Creating new variables from existing data to improve analysis</a:t>
            </a:r>
          </a:p>
          <a:p>
            <a:endParaRPr lang="en-US" sz="1100" dirty="0"/>
          </a:p>
          <a:p>
            <a:r>
              <a:rPr lang="en-US" sz="1100" b="1" dirty="0"/>
              <a:t>New variables created:</a:t>
            </a:r>
          </a:p>
          <a:p>
            <a:endParaRPr lang="en-US" sz="1100" dirty="0"/>
          </a:p>
          <a:p>
            <a:pPr marL="228600" indent="-228600">
              <a:buAutoNum type="arabicPeriod"/>
            </a:pPr>
            <a:r>
              <a:rPr lang="en-US" sz="1100" b="1" dirty="0"/>
              <a:t>FeedbackGroup (Proxy for feedback frequency)</a:t>
            </a:r>
          </a:p>
          <a:p>
            <a:endParaRPr lang="en-US" sz="1100" b="1" dirty="0"/>
          </a:p>
          <a:p>
            <a:r>
              <a:rPr lang="en-US" sz="1100" dirty="0"/>
              <a:t>TrainingOpportunitiesWithinYear ≥ 2 → </a:t>
            </a:r>
            <a:r>
              <a:rPr lang="en-US" sz="1100" b="1" dirty="0"/>
              <a:t>Regular Feedback</a:t>
            </a:r>
            <a:r>
              <a:rPr lang="en-US" sz="1100" dirty="0"/>
              <a:t> </a:t>
            </a:r>
          </a:p>
          <a:p>
            <a:r>
              <a:rPr lang="en-US" sz="1100" dirty="0"/>
              <a:t>TrainingOpportunitiesWithinYear &lt; 2 → </a:t>
            </a:r>
            <a:r>
              <a:rPr lang="en-US" sz="1100" b="1" dirty="0"/>
              <a:t>No Regular Feedback</a:t>
            </a:r>
            <a:r>
              <a:rPr lang="en-US" sz="1100" dirty="0"/>
              <a:t> </a:t>
            </a:r>
          </a:p>
          <a:p>
            <a:r>
              <a:rPr lang="en-US" sz="1100" dirty="0"/>
              <a:t>Reason: No direct feedback variable exists in dataset </a:t>
            </a:r>
          </a:p>
          <a:p>
            <a:endParaRPr lang="en-US" sz="1100" dirty="0"/>
          </a:p>
          <a:p>
            <a:r>
              <a:rPr lang="en-US" sz="1100" b="1" dirty="0"/>
              <a:t>2. HighPerformer</a:t>
            </a:r>
          </a:p>
          <a:p>
            <a:endParaRPr lang="en-US" sz="1100" b="1" dirty="0"/>
          </a:p>
          <a:p>
            <a:r>
              <a:rPr lang="en-US" sz="1100" dirty="0"/>
              <a:t>ManagerRating ≥ 4 → </a:t>
            </a:r>
            <a:r>
              <a:rPr lang="en-US" sz="1100" b="1" dirty="0"/>
              <a:t>High Performer</a:t>
            </a:r>
            <a:r>
              <a:rPr lang="en-US" sz="1100" dirty="0"/>
              <a:t> </a:t>
            </a:r>
          </a:p>
          <a:p>
            <a:r>
              <a:rPr lang="en-US" sz="1100" dirty="0"/>
              <a:t>ManagerRating &lt; 4 → </a:t>
            </a:r>
            <a:r>
              <a:rPr lang="en-US" sz="1100" b="1" dirty="0"/>
              <a:t>Low Performer</a:t>
            </a:r>
            <a:r>
              <a:rPr lang="en-US" sz="1100" dirty="0"/>
              <a:t> </a:t>
            </a:r>
          </a:p>
          <a:p>
            <a:r>
              <a:rPr lang="en-US" sz="1100" dirty="0"/>
              <a:t>Reason: Needed binary variable for chi-square and logistic regression </a:t>
            </a:r>
          </a:p>
          <a:p>
            <a:endParaRPr lang="en-US" sz="11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9755AEB-678C-F85D-5F2F-47F0F1D82E60}"/>
              </a:ext>
            </a:extLst>
          </p:cNvPr>
          <p:cNvSpPr txBox="1"/>
          <p:nvPr/>
        </p:nvSpPr>
        <p:spPr>
          <a:xfrm>
            <a:off x="4660054" y="1102709"/>
            <a:ext cx="4314613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b="1" dirty="0"/>
              <a:t>Proxy Variable Concept</a:t>
            </a:r>
          </a:p>
          <a:p>
            <a:endParaRPr lang="en-US" sz="1100" b="1" dirty="0"/>
          </a:p>
          <a:p>
            <a:r>
              <a:rPr lang="en-US" sz="1100" b="1" dirty="0"/>
              <a:t>What is a proxy variable?</a:t>
            </a:r>
            <a:endParaRPr lang="en-US" sz="1100" dirty="0"/>
          </a:p>
          <a:p>
            <a:r>
              <a:rPr lang="en-US" sz="1100" dirty="0"/>
              <a:t>An indirect measure used when the real variable is not available</a:t>
            </a:r>
          </a:p>
          <a:p>
            <a:r>
              <a:rPr lang="en-US" sz="1100" dirty="0"/>
              <a:t> </a:t>
            </a:r>
          </a:p>
          <a:p>
            <a:r>
              <a:rPr lang="en-US" sz="1100" b="1" dirty="0"/>
              <a:t>In this study:</a:t>
            </a:r>
          </a:p>
          <a:p>
            <a:endParaRPr lang="en-US" sz="1100" dirty="0"/>
          </a:p>
          <a:p>
            <a:r>
              <a:rPr lang="en-US" sz="1100" dirty="0"/>
              <a:t>Feedback quality is NOT directly recorded </a:t>
            </a:r>
          </a:p>
          <a:p>
            <a:r>
              <a:rPr lang="en-US" sz="1100" dirty="0"/>
              <a:t>So we used:</a:t>
            </a:r>
            <a:br>
              <a:rPr lang="en-US" sz="1100" dirty="0"/>
            </a:br>
            <a:r>
              <a:rPr lang="en-US" sz="1100" dirty="0"/>
              <a:t>→ TrainingOpportunitiesWithinYear as a proxy for feedback frequency</a:t>
            </a:r>
          </a:p>
          <a:p>
            <a:r>
              <a:rPr lang="en-US" sz="1100" dirty="0"/>
              <a:t> </a:t>
            </a:r>
          </a:p>
          <a:p>
            <a:r>
              <a:rPr lang="en-US" sz="1100" b="1" dirty="0"/>
              <a:t>Limitation:</a:t>
            </a:r>
          </a:p>
          <a:p>
            <a:endParaRPr lang="en-US" sz="1100" dirty="0"/>
          </a:p>
          <a:p>
            <a:r>
              <a:rPr lang="en-US" sz="1100" dirty="0"/>
              <a:t>This is not a perfect measure of feedback quality </a:t>
            </a:r>
          </a:p>
          <a:p>
            <a:r>
              <a:rPr lang="en-US" sz="1100" dirty="0"/>
              <a:t>It may not fully reflect actual managerial feedback </a:t>
            </a:r>
          </a:p>
          <a:p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0952936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320040" cy="804672"/>
          </a:xfrm>
          <a:prstGeom prst="rect">
            <a:avLst/>
          </a:prstGeom>
          <a:solidFill>
            <a:srgbClr val="1620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18872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Descriptive Analysis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530352"/>
            <a:ext cx="7315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BA3E8"/>
                </a:solidFill>
              </a:rPr>
              <a:t>Summarising and comparing performance across feedback groups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65760" y="932688"/>
            <a:ext cx="201168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932688"/>
            <a:ext cx="2011680" cy="2286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950976"/>
            <a:ext cx="192024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ADCFC"/>
                </a:solidFill>
              </a:rPr>
              <a:t>Mean — No Feedback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11480" y="11887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2761"/>
                </a:solidFill>
              </a:rPr>
              <a:t>3.485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2532888" y="932688"/>
            <a:ext cx="201168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532888" y="932688"/>
            <a:ext cx="2011680" cy="2286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578608" y="950976"/>
            <a:ext cx="192024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ADCFC"/>
                </a:solidFill>
              </a:rPr>
              <a:t>Mean — Regular Feedback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578608" y="11887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2761"/>
                </a:solidFill>
              </a:rPr>
              <a:t>3.468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4700016" y="932688"/>
            <a:ext cx="201168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700016" y="932688"/>
            <a:ext cx="2011680" cy="2286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745736" y="950976"/>
            <a:ext cx="192024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ADCFC"/>
                </a:solidFill>
              </a:rPr>
              <a:t>Mean Difference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745736" y="11887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2761"/>
                </a:solidFill>
              </a:rPr>
              <a:t>0.017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6867144" y="932688"/>
            <a:ext cx="201168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867144" y="932688"/>
            <a:ext cx="2011680" cy="2286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912864" y="950976"/>
            <a:ext cx="192024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ADCFC"/>
                </a:solidFill>
              </a:rPr>
              <a:t>High Perf (both groups)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912864" y="11887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2761"/>
                </a:solidFill>
              </a:rPr>
              <a:t>~49%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365760" y="2011680"/>
            <a:ext cx="416052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75488" y="2103120"/>
            <a:ext cx="54864" cy="2743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85216" y="2103120"/>
            <a:ext cx="3822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</a:rPr>
              <a:t>Group Statistics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75488" y="2423160"/>
            <a:ext cx="3931920" cy="38404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75488" y="2468880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</a:rPr>
              <a:t>Group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892808" y="246888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350008" y="2468880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Mean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852928" y="2468880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SD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355848" y="2468880"/>
            <a:ext cx="594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High %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75488" y="2862072"/>
            <a:ext cx="3931920" cy="3840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75488" y="2907792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</a:rPr>
              <a:t>No Regular Feedback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892808" y="290779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2,214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350008" y="2907792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3.485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2852928" y="2907792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0.942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355848" y="2907792"/>
            <a:ext cx="594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50.45%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75488" y="3300984"/>
            <a:ext cx="3931920" cy="384048"/>
          </a:xfrm>
          <a:prstGeom prst="rect">
            <a:avLst/>
          </a:prstGeom>
          <a:solidFill>
            <a:srgbClr val="F8FA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75488" y="3346704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</a:rPr>
              <a:t>Regular Feedback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892808" y="3346704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4,495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2350008" y="3346704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3.468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2852928" y="3346704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0.971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355848" y="3346704"/>
            <a:ext cx="594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48.50%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663440" y="2011680"/>
            <a:ext cx="411480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4773168" y="2103120"/>
            <a:ext cx="54864" cy="2743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4882896" y="2103120"/>
            <a:ext cx="37307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</a:rPr>
              <a:t>Time Series (2013-2022)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4773168" y="2423160"/>
            <a:ext cx="38862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Review data spans 10 years - 6,709 records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Both group lines cross 6 times over 10 years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No consistent advantage for either group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In 2015: No Feedback (3.623) scored HIGHER than Regular Feedback (3.502)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Both groups track around the overall mean of 3.473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365760" y="425653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E0F1D48-891B-837E-1DDB-BF7976EC18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3E2E620-921A-43AF-23A6-10DFF790B079}"/>
              </a:ext>
            </a:extLst>
          </p:cNvPr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2035BB47-8FA9-9C27-D845-A82F146E0CBE}"/>
              </a:ext>
            </a:extLst>
          </p:cNvPr>
          <p:cNvSpPr/>
          <p:nvPr/>
        </p:nvSpPr>
        <p:spPr>
          <a:xfrm>
            <a:off x="0" y="0"/>
            <a:ext cx="320040" cy="804672"/>
          </a:xfrm>
          <a:prstGeom prst="rect">
            <a:avLst/>
          </a:prstGeom>
          <a:solidFill>
            <a:srgbClr val="1620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2959D25-CBF8-504B-F53B-AF5F7F268E00}"/>
              </a:ext>
            </a:extLst>
          </p:cNvPr>
          <p:cNvSpPr/>
          <p:nvPr/>
        </p:nvSpPr>
        <p:spPr>
          <a:xfrm>
            <a:off x="457200" y="118872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Descriptive Analysis</a:t>
            </a:r>
            <a:endParaRPr lang="en-US" sz="20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4AC38860-3409-07AC-4494-1591D7DD720B}"/>
              </a:ext>
            </a:extLst>
          </p:cNvPr>
          <p:cNvSpPr/>
          <p:nvPr/>
        </p:nvSpPr>
        <p:spPr>
          <a:xfrm>
            <a:off x="457200" y="530352"/>
            <a:ext cx="7315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BA3E8"/>
                </a:solidFill>
              </a:rPr>
              <a:t>Summarising and comparing performance across feedback groups</a:t>
            </a:r>
            <a:endParaRPr lang="en-US" sz="950" dirty="0"/>
          </a:p>
        </p:txBody>
      </p:sp>
      <p:pic>
        <p:nvPicPr>
          <p:cNvPr id="56" name="Picture 55">
            <a:extLst>
              <a:ext uri="{FF2B5EF4-FFF2-40B4-BE49-F238E27FC236}">
                <a16:creationId xmlns:a16="http://schemas.microsoft.com/office/drawing/2014/main" id="{AF8576AE-25F8-E0FF-11EB-C21B05707E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923544"/>
            <a:ext cx="3839184" cy="383918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B589213-94CF-2355-8CCB-9308D537398F}"/>
              </a:ext>
            </a:extLst>
          </p:cNvPr>
          <p:cNvSpPr txBox="1"/>
          <p:nvPr/>
        </p:nvSpPr>
        <p:spPr>
          <a:xfrm>
            <a:off x="4721013" y="1178560"/>
            <a:ext cx="4050454" cy="22929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100" b="1" dirty="0"/>
              <a:t>Boxplot </a:t>
            </a:r>
          </a:p>
          <a:p>
            <a:pPr algn="just"/>
            <a:endParaRPr lang="en-US" sz="1100" b="1" dirty="0"/>
          </a:p>
          <a:p>
            <a:pPr algn="just"/>
            <a:r>
              <a:rPr lang="en-US" sz="1100" dirty="0"/>
              <a:t>The boxplot compares the distribution of </a:t>
            </a:r>
            <a:r>
              <a:rPr lang="en-US" sz="1100" b="1" dirty="0"/>
              <a:t>Manager Ratings</a:t>
            </a:r>
            <a:r>
              <a:rPr lang="en-US" sz="1100" dirty="0"/>
              <a:t> between the two groups.</a:t>
            </a:r>
          </a:p>
          <a:p>
            <a:pPr algn="just"/>
            <a:endParaRPr lang="en-US" sz="1100" dirty="0"/>
          </a:p>
          <a:p>
            <a:pPr algn="just"/>
            <a:r>
              <a:rPr lang="en-US" sz="1100" dirty="0"/>
              <a:t>It shows the </a:t>
            </a:r>
            <a:r>
              <a:rPr lang="en-US" sz="1100" b="1" dirty="0"/>
              <a:t>median, spread, and variability</a:t>
            </a:r>
            <a:r>
              <a:rPr lang="en-US" sz="1100" dirty="0"/>
              <a:t> of ratings </a:t>
            </a:r>
          </a:p>
          <a:p>
            <a:pPr algn="just"/>
            <a:r>
              <a:rPr lang="en-US" sz="1100" dirty="0"/>
              <a:t>Both groups have </a:t>
            </a:r>
            <a:r>
              <a:rPr lang="en-US" sz="1100" b="1" dirty="0"/>
              <a:t>very similar medians and overlapping ranges</a:t>
            </a:r>
            <a:r>
              <a:rPr lang="en-US" sz="1100" dirty="0"/>
              <a:t> </a:t>
            </a:r>
          </a:p>
          <a:p>
            <a:pPr algn="just"/>
            <a:r>
              <a:rPr lang="en-US" sz="1100" dirty="0"/>
              <a:t>There is </a:t>
            </a:r>
            <a:r>
              <a:rPr lang="en-US" sz="1100" b="1" dirty="0"/>
              <a:t>no clear difference</a:t>
            </a:r>
            <a:r>
              <a:rPr lang="en-US" sz="1100" dirty="0"/>
              <a:t> in performance between employees with and without regular feedback </a:t>
            </a:r>
          </a:p>
          <a:p>
            <a:pPr algn="just"/>
            <a:endParaRPr lang="en-US" sz="1100" dirty="0"/>
          </a:p>
          <a:p>
            <a:pPr algn="just"/>
            <a:r>
              <a:rPr lang="en-US" sz="1100" b="1" dirty="0"/>
              <a:t>Conclusion:</a:t>
            </a:r>
            <a:r>
              <a:rPr lang="en-US" sz="1100" dirty="0"/>
              <a:t> Feedback does not create a noticeable shift in performance distribution</a:t>
            </a:r>
          </a:p>
          <a:p>
            <a:pPr algn="just"/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481202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C9CC4B-8DF1-D727-2302-FF08C4036C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BFDBFA4-FD7F-353C-7444-226A0E8488FE}"/>
              </a:ext>
            </a:extLst>
          </p:cNvPr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0094D4A3-5403-EF5F-48E9-8156503DCBBE}"/>
              </a:ext>
            </a:extLst>
          </p:cNvPr>
          <p:cNvSpPr/>
          <p:nvPr/>
        </p:nvSpPr>
        <p:spPr>
          <a:xfrm>
            <a:off x="0" y="0"/>
            <a:ext cx="320040" cy="804672"/>
          </a:xfrm>
          <a:prstGeom prst="rect">
            <a:avLst/>
          </a:prstGeom>
          <a:solidFill>
            <a:srgbClr val="1620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CA43073-C3FD-44CF-BC8A-68A6378AAA65}"/>
              </a:ext>
            </a:extLst>
          </p:cNvPr>
          <p:cNvSpPr/>
          <p:nvPr/>
        </p:nvSpPr>
        <p:spPr>
          <a:xfrm>
            <a:off x="457200" y="118872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Descriptive Analysis</a:t>
            </a:r>
            <a:endParaRPr lang="en-US" sz="20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F1B045B-F930-6B00-1B89-BCF326583D3B}"/>
              </a:ext>
            </a:extLst>
          </p:cNvPr>
          <p:cNvSpPr/>
          <p:nvPr/>
        </p:nvSpPr>
        <p:spPr>
          <a:xfrm>
            <a:off x="457200" y="530352"/>
            <a:ext cx="7315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BA3E8"/>
                </a:solidFill>
              </a:rPr>
              <a:t>Summarising and comparing performance across feedback groups</a:t>
            </a:r>
            <a:endParaRPr lang="en-US" sz="950" dirty="0"/>
          </a:p>
        </p:txBody>
      </p:sp>
      <p:pic>
        <p:nvPicPr>
          <p:cNvPr id="58" name="Picture 57">
            <a:extLst>
              <a:ext uri="{FF2B5EF4-FFF2-40B4-BE49-F238E27FC236}">
                <a16:creationId xmlns:a16="http://schemas.microsoft.com/office/drawing/2014/main" id="{F083E8FD-5DCF-AFA7-356E-4F05450400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923544"/>
            <a:ext cx="4009620" cy="383918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7110429-3FBB-AD8A-12A4-6C8151BB28A3}"/>
              </a:ext>
            </a:extLst>
          </p:cNvPr>
          <p:cNvSpPr txBox="1"/>
          <p:nvPr/>
        </p:nvSpPr>
        <p:spPr>
          <a:xfrm>
            <a:off x="4788747" y="1239520"/>
            <a:ext cx="3894666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200" b="1" dirty="0"/>
              <a:t>Bar Chart </a:t>
            </a:r>
          </a:p>
          <a:p>
            <a:pPr algn="just"/>
            <a:endParaRPr lang="en-US" sz="1200" dirty="0"/>
          </a:p>
          <a:p>
            <a:pPr algn="just"/>
            <a:r>
              <a:rPr lang="en-US" sz="1200" dirty="0"/>
              <a:t>The bar chart shows the </a:t>
            </a:r>
            <a:r>
              <a:rPr lang="en-US" sz="1200" b="1" dirty="0"/>
              <a:t>average Manager Rating</a:t>
            </a:r>
            <a:r>
              <a:rPr lang="en-US" sz="1200" dirty="0"/>
              <a:t> for each group </a:t>
            </a:r>
          </a:p>
          <a:p>
            <a:pPr algn="just"/>
            <a:r>
              <a:rPr lang="en-US" sz="1200" dirty="0"/>
              <a:t>The mean ratings are </a:t>
            </a:r>
            <a:r>
              <a:rPr lang="en-US" sz="1200" b="1" dirty="0"/>
              <a:t>3.485 (No Feedback)</a:t>
            </a:r>
            <a:r>
              <a:rPr lang="en-US" sz="1200" dirty="0"/>
              <a:t> and </a:t>
            </a:r>
            <a:r>
              <a:rPr lang="en-US" sz="1200" b="1" dirty="0"/>
              <a:t>3.468 (Regular Feedback)</a:t>
            </a:r>
            <a:r>
              <a:rPr lang="en-US" sz="1200" dirty="0"/>
              <a:t> </a:t>
            </a:r>
          </a:p>
          <a:p>
            <a:pPr algn="just"/>
            <a:r>
              <a:rPr lang="en-US" sz="1200" dirty="0"/>
              <a:t>The difference is </a:t>
            </a:r>
            <a:r>
              <a:rPr lang="en-US" sz="1200" b="1" dirty="0"/>
              <a:t>extremely small (0.017)</a:t>
            </a:r>
            <a:r>
              <a:rPr lang="en-US" sz="1200" dirty="0"/>
              <a:t> </a:t>
            </a:r>
          </a:p>
          <a:p>
            <a:pPr algn="just"/>
            <a:endParaRPr lang="en-US" sz="1200" dirty="0"/>
          </a:p>
          <a:p>
            <a:pPr algn="just"/>
            <a:r>
              <a:rPr lang="en-US" sz="1200" b="1" dirty="0"/>
              <a:t>Conclusion:</a:t>
            </a:r>
            <a:r>
              <a:rPr lang="en-US" sz="1200" dirty="0"/>
              <a:t> Average performance is nearly identical in both groups</a:t>
            </a:r>
          </a:p>
          <a:p>
            <a:pPr algn="just"/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0429231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BC002D-AB33-AC49-A475-23FDDE82F7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5D948DC-0F41-98C7-BD7B-053AB0557611}"/>
              </a:ext>
            </a:extLst>
          </p:cNvPr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2512628-F2C4-CF5D-1A39-96D55EA0047D}"/>
              </a:ext>
            </a:extLst>
          </p:cNvPr>
          <p:cNvSpPr/>
          <p:nvPr/>
        </p:nvSpPr>
        <p:spPr>
          <a:xfrm>
            <a:off x="0" y="0"/>
            <a:ext cx="320040" cy="804672"/>
          </a:xfrm>
          <a:prstGeom prst="rect">
            <a:avLst/>
          </a:prstGeom>
          <a:solidFill>
            <a:srgbClr val="1620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14C4F47-B68B-AE4B-0D93-5920E86A3B48}"/>
              </a:ext>
            </a:extLst>
          </p:cNvPr>
          <p:cNvSpPr/>
          <p:nvPr/>
        </p:nvSpPr>
        <p:spPr>
          <a:xfrm>
            <a:off x="457200" y="118872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dirty="0">
                <a:solidFill>
                  <a:schemeClr val="bg1"/>
                </a:solidFill>
              </a:rPr>
              <a:t>Time Series </a:t>
            </a:r>
            <a:r>
              <a:rPr lang="en-US" sz="2000" b="1" dirty="0">
                <a:solidFill>
                  <a:srgbClr val="FFFFFF"/>
                </a:solidFill>
              </a:rPr>
              <a:t>Analysis</a:t>
            </a:r>
            <a:endParaRPr lang="en-US" sz="20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9C2BD5F5-E65C-B828-C488-E1A140EC3DC2}"/>
              </a:ext>
            </a:extLst>
          </p:cNvPr>
          <p:cNvSpPr/>
          <p:nvPr/>
        </p:nvSpPr>
        <p:spPr>
          <a:xfrm>
            <a:off x="457200" y="530352"/>
            <a:ext cx="7315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BA3E8"/>
                </a:solidFill>
              </a:rPr>
              <a:t>Summarising and comparing performance across feedback groups</a:t>
            </a:r>
            <a:endParaRPr lang="en-US" sz="95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A87BB85-62B3-265E-04C2-4E04B7E258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923544"/>
            <a:ext cx="4234774" cy="402279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4D7DA06-537B-7AE5-EF4F-C29B8D06B0E2}"/>
              </a:ext>
            </a:extLst>
          </p:cNvPr>
          <p:cNvSpPr txBox="1"/>
          <p:nvPr/>
        </p:nvSpPr>
        <p:spPr>
          <a:xfrm>
            <a:off x="5134187" y="1273387"/>
            <a:ext cx="3190240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200" b="1" dirty="0"/>
              <a:t>Time Series </a:t>
            </a:r>
          </a:p>
          <a:p>
            <a:pPr algn="just"/>
            <a:endParaRPr lang="en-US" sz="1200" dirty="0"/>
          </a:p>
          <a:p>
            <a:pPr algn="just"/>
            <a:r>
              <a:rPr lang="en-US" sz="1200" dirty="0"/>
              <a:t>The time series shows </a:t>
            </a:r>
            <a:r>
              <a:rPr lang="en-US" sz="1200" b="1" dirty="0"/>
              <a:t>performance trends over 10 years (2013–2022)</a:t>
            </a:r>
            <a:r>
              <a:rPr lang="en-US" sz="1200" dirty="0"/>
              <a:t> </a:t>
            </a:r>
          </a:p>
          <a:p>
            <a:pPr algn="just"/>
            <a:r>
              <a:rPr lang="en-US" sz="1200" dirty="0"/>
              <a:t>Both groups follow a </a:t>
            </a:r>
            <a:r>
              <a:rPr lang="en-US" sz="1200" b="1" dirty="0"/>
              <a:t>similar pattern over time</a:t>
            </a:r>
            <a:r>
              <a:rPr lang="en-US" sz="1200" dirty="0"/>
              <a:t> </a:t>
            </a:r>
          </a:p>
          <a:p>
            <a:pPr algn="just"/>
            <a:r>
              <a:rPr lang="en-US" sz="1200" dirty="0"/>
              <a:t>The lines </a:t>
            </a:r>
            <a:r>
              <a:rPr lang="en-US" sz="1200" b="1" dirty="0"/>
              <a:t>cross multiple times</a:t>
            </a:r>
            <a:r>
              <a:rPr lang="en-US" sz="1200" dirty="0"/>
              <a:t>, showing no consistent advantage </a:t>
            </a:r>
          </a:p>
          <a:p>
            <a:pPr algn="just"/>
            <a:r>
              <a:rPr lang="en-US" sz="1200" dirty="0"/>
              <a:t>In some years, </a:t>
            </a:r>
            <a:r>
              <a:rPr lang="en-US" sz="1200" b="1" dirty="0"/>
              <a:t>No Feedback group performs better</a:t>
            </a:r>
            <a:r>
              <a:rPr lang="en-US" sz="1200" dirty="0"/>
              <a:t> </a:t>
            </a:r>
          </a:p>
          <a:p>
            <a:pPr algn="just"/>
            <a:endParaRPr lang="en-US" sz="1200" b="1" dirty="0"/>
          </a:p>
          <a:p>
            <a:pPr algn="just"/>
            <a:r>
              <a:rPr lang="en-US" sz="1200" b="1" dirty="0"/>
              <a:t>Conclusion:</a:t>
            </a:r>
            <a:r>
              <a:rPr lang="en-US" sz="1200" dirty="0"/>
              <a:t> There is </a:t>
            </a:r>
            <a:r>
              <a:rPr lang="en-US" sz="1200" b="1" dirty="0"/>
              <a:t>no stable or long-term impact</a:t>
            </a:r>
            <a:r>
              <a:rPr lang="en-US" sz="1200" dirty="0"/>
              <a:t> of feedback on performance</a:t>
            </a:r>
          </a:p>
          <a:p>
            <a:pPr algn="just"/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2609401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320040" cy="804672"/>
          </a:xfrm>
          <a:prstGeom prst="rect">
            <a:avLst/>
          </a:prstGeom>
          <a:solidFill>
            <a:srgbClr val="1620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18872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Inferential Analysis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530352"/>
            <a:ext cx="7315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BA3E8"/>
                </a:solidFill>
              </a:rPr>
              <a:t>Four statistical tests — all at significance level alpha = 0.05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65760" y="868680"/>
            <a:ext cx="8412480" cy="347472"/>
          </a:xfrm>
          <a:prstGeom prst="rect">
            <a:avLst/>
          </a:prstGeom>
          <a:solidFill>
            <a:srgbClr val="E6EFFE"/>
          </a:solidFill>
          <a:ln w="63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91440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</a:rPr>
              <a:t>H0: </a:t>
            </a:r>
            <a:r>
              <a:rPr lang="en-US" sz="1050" dirty="0">
                <a:solidFill>
                  <a:srgbClr val="1E293B"/>
                </a:solidFill>
              </a:rPr>
              <a:t>No significant difference in between two groups     </a:t>
            </a:r>
            <a:r>
              <a:rPr lang="en-US" sz="1050" b="1" dirty="0">
                <a:solidFill>
                  <a:srgbClr val="0D9488"/>
                </a:solidFill>
              </a:rPr>
              <a:t>H1: </a:t>
            </a:r>
            <a:r>
              <a:rPr lang="en-US" sz="1050" dirty="0">
                <a:solidFill>
                  <a:srgbClr val="1E293B"/>
                </a:solidFill>
              </a:rPr>
              <a:t>Regular feedback group has significantly higher performance     </a:t>
            </a:r>
            <a:r>
              <a:rPr lang="en-US" sz="1050" b="1" dirty="0">
                <a:solidFill>
                  <a:srgbClr val="D97706"/>
                </a:solidFill>
              </a:rPr>
              <a:t>alpha = 0.05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65760" y="1325880"/>
            <a:ext cx="4206240" cy="27432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1362456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t-test (one-tailed)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1655064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Compares mean ManagerRating between 2 groups. One-tailed is used because hypothesis predicts exact direction ( higher performance with feedback)   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57200" y="2075688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</a:rPr>
              <a:t>t = -0.672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286000" y="2075688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D97706"/>
                </a:solidFill>
              </a:rPr>
              <a:t>p = 0.501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377440"/>
            <a:ext cx="4005072" cy="256032"/>
          </a:xfrm>
          <a:prstGeom prst="rect">
            <a:avLst/>
          </a:prstGeom>
          <a:solidFill>
            <a:srgbClr val="D97706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57200" y="2404872"/>
            <a:ext cx="4005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97706"/>
                </a:solidFill>
              </a:rPr>
              <a:t>FAIL TO REJECT H0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65760" y="3044952"/>
            <a:ext cx="420624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65760" y="3044952"/>
            <a:ext cx="4206240" cy="2743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57200" y="3081528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One-Way ANOVA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57200" y="3374136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Compares all 3 training levels (1, 2, 3 sessions) simultaneously. t-test only compares 2 groups.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57200" y="3794760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</a:rPr>
              <a:t>F = 0.253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286000" y="3794760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D97706"/>
                </a:solidFill>
              </a:rPr>
              <a:t>p = 0.776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4096512"/>
            <a:ext cx="4005072" cy="256032"/>
          </a:xfrm>
          <a:prstGeom prst="rect">
            <a:avLst/>
          </a:prstGeom>
          <a:solidFill>
            <a:srgbClr val="0D9488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57200" y="4123944"/>
            <a:ext cx="4005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9488"/>
                </a:solidFill>
              </a:rPr>
              <a:t>FAIL TO REJECT H0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814146" y="1325880"/>
            <a:ext cx="420624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800600" y="1325880"/>
            <a:ext cx="4206240" cy="274320"/>
          </a:xfrm>
          <a:prstGeom prst="rect">
            <a:avLst/>
          </a:prstGeom>
          <a:solidFill>
            <a:srgbClr val="5B21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892040" y="1362456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Chi-Square Test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892040" y="1655064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Tests association between FeedbackGroup and HighPerformer — both are categorical variables.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892040" y="2075688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</a:rPr>
              <a:t>chi-sq = 2.341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720840" y="2075688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D97706"/>
                </a:solidFill>
              </a:rPr>
              <a:t>p = 0.126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892040" y="2377440"/>
            <a:ext cx="4005072" cy="256032"/>
          </a:xfrm>
          <a:prstGeom prst="rect">
            <a:avLst/>
          </a:prstGeom>
          <a:solidFill>
            <a:srgbClr val="5B21B6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892040" y="2404872"/>
            <a:ext cx="4005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B21B6"/>
                </a:solidFill>
              </a:rPr>
              <a:t>FAIL TO REJECT H0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800600" y="3044952"/>
            <a:ext cx="420624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4800600" y="3044952"/>
            <a:ext cx="4206240" cy="27432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892040" y="3081528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Pearson Correlation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892040" y="3374136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Tests linear relationship between training sessions (number) and manager rating (number).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892040" y="3794760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</a:rPr>
              <a:t>r = -0.009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720840" y="3794760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D97706"/>
                </a:solidFill>
              </a:rPr>
              <a:t>p = 0.484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892040" y="4096512"/>
            <a:ext cx="4005072" cy="256032"/>
          </a:xfrm>
          <a:prstGeom prst="rect">
            <a:avLst/>
          </a:prstGeom>
          <a:solidFill>
            <a:srgbClr val="DC2626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4892040" y="4123944"/>
            <a:ext cx="4005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C2626"/>
                </a:solidFill>
              </a:rPr>
              <a:t>NO SIGNIFICANT CORRELATION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365760" y="4773168"/>
            <a:ext cx="8412480" cy="29260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365760" y="4773168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ADCFC"/>
                </a:solidFill>
              </a:rPr>
              <a:t>All 4 tests returned p &gt; 0.05 - We FAIL TO REJECT H0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63B6AD-8A45-0837-EE72-E3F3B07A68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54354DA-CDCB-9888-98F9-039EAE35E860}"/>
              </a:ext>
            </a:extLst>
          </p:cNvPr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89F69446-8AD1-D5E9-CDFD-721F1129A385}"/>
              </a:ext>
            </a:extLst>
          </p:cNvPr>
          <p:cNvSpPr/>
          <p:nvPr/>
        </p:nvSpPr>
        <p:spPr>
          <a:xfrm>
            <a:off x="0" y="0"/>
            <a:ext cx="320040" cy="804672"/>
          </a:xfrm>
          <a:prstGeom prst="rect">
            <a:avLst/>
          </a:prstGeom>
          <a:solidFill>
            <a:srgbClr val="1620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A81C33C-DD32-E00A-4E55-1CEFBA34C337}"/>
              </a:ext>
            </a:extLst>
          </p:cNvPr>
          <p:cNvSpPr/>
          <p:nvPr/>
        </p:nvSpPr>
        <p:spPr>
          <a:xfrm>
            <a:off x="457200" y="118872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Inferential Analysis</a:t>
            </a:r>
            <a:endParaRPr lang="en-US" sz="20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5EAD45F-2D94-7CD1-C7AB-AF4B868193BE}"/>
              </a:ext>
            </a:extLst>
          </p:cNvPr>
          <p:cNvSpPr/>
          <p:nvPr/>
        </p:nvSpPr>
        <p:spPr>
          <a:xfrm>
            <a:off x="457200" y="530352"/>
            <a:ext cx="7315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BA3E8"/>
                </a:solidFill>
              </a:rPr>
              <a:t>Four statistical tests — all at significance level alpha = 0.05</a:t>
            </a:r>
            <a:endParaRPr lang="en-US" sz="95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D6882FFF-FA23-D98B-155F-66C40BA6A2DC}"/>
              </a:ext>
            </a:extLst>
          </p:cNvPr>
          <p:cNvSpPr/>
          <p:nvPr/>
        </p:nvSpPr>
        <p:spPr>
          <a:xfrm>
            <a:off x="365760" y="868680"/>
            <a:ext cx="8412480" cy="347472"/>
          </a:xfrm>
          <a:prstGeom prst="rect">
            <a:avLst/>
          </a:prstGeom>
          <a:solidFill>
            <a:srgbClr val="E6EFFE"/>
          </a:solidFill>
          <a:ln w="63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301ADF96-B0CE-D6CC-5817-DEEFF2C44D6B}"/>
              </a:ext>
            </a:extLst>
          </p:cNvPr>
          <p:cNvSpPr/>
          <p:nvPr/>
        </p:nvSpPr>
        <p:spPr>
          <a:xfrm>
            <a:off x="502920" y="91440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</a:rPr>
              <a:t>H0: </a:t>
            </a:r>
            <a:r>
              <a:rPr lang="en-US" sz="1050" dirty="0">
                <a:solidFill>
                  <a:srgbClr val="1E293B"/>
                </a:solidFill>
              </a:rPr>
              <a:t>No significant difference in between two groups     </a:t>
            </a:r>
            <a:r>
              <a:rPr lang="en-US" sz="1050" b="1" dirty="0">
                <a:solidFill>
                  <a:srgbClr val="0D9488"/>
                </a:solidFill>
              </a:rPr>
              <a:t>H1: </a:t>
            </a:r>
            <a:r>
              <a:rPr lang="en-US" sz="1050" dirty="0">
                <a:solidFill>
                  <a:srgbClr val="1E293B"/>
                </a:solidFill>
              </a:rPr>
              <a:t>Regular feedback group has significantly higher performance     </a:t>
            </a:r>
            <a:r>
              <a:rPr lang="en-US" sz="1050" b="1" dirty="0">
                <a:solidFill>
                  <a:srgbClr val="D97706"/>
                </a:solidFill>
              </a:rPr>
              <a:t>alpha = 0.05</a:t>
            </a:r>
            <a:endParaRPr lang="en-US" sz="105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8DA5A4BD-232D-5BF9-5B2A-D1A511502B58}"/>
              </a:ext>
            </a:extLst>
          </p:cNvPr>
          <p:cNvSpPr/>
          <p:nvPr/>
        </p:nvSpPr>
        <p:spPr>
          <a:xfrm>
            <a:off x="365760" y="1325880"/>
            <a:ext cx="4206240" cy="27432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202C5468-BFE3-30F0-1EFE-B171AB0B1993}"/>
              </a:ext>
            </a:extLst>
          </p:cNvPr>
          <p:cNvSpPr/>
          <p:nvPr/>
        </p:nvSpPr>
        <p:spPr>
          <a:xfrm>
            <a:off x="457200" y="1362456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t-test (one-tailed)</a:t>
            </a:r>
            <a:endParaRPr lang="en-US" sz="105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2635BDFA-7B49-9B72-159B-D4F7510D4223}"/>
              </a:ext>
            </a:extLst>
          </p:cNvPr>
          <p:cNvSpPr/>
          <p:nvPr/>
        </p:nvSpPr>
        <p:spPr>
          <a:xfrm>
            <a:off x="457200" y="1655064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BCC9C092-17AB-7BAB-7F73-F9651CE5858E}"/>
              </a:ext>
            </a:extLst>
          </p:cNvPr>
          <p:cNvSpPr/>
          <p:nvPr/>
        </p:nvSpPr>
        <p:spPr>
          <a:xfrm>
            <a:off x="457200" y="713232"/>
            <a:ext cx="182880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B5F70D0F-CCAF-27EF-1773-3F5EB7D18700}"/>
              </a:ext>
            </a:extLst>
          </p:cNvPr>
          <p:cNvSpPr/>
          <p:nvPr/>
        </p:nvSpPr>
        <p:spPr>
          <a:xfrm>
            <a:off x="685800" y="1666702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1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32F02E4E-42EC-5C02-9CA6-B0CA864704AF}"/>
              </a:ext>
            </a:extLst>
          </p:cNvPr>
          <p:cNvSpPr/>
          <p:nvPr/>
        </p:nvSpPr>
        <p:spPr>
          <a:xfrm>
            <a:off x="457200" y="2404872"/>
            <a:ext cx="4005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AD0B94CA-D591-8FB9-BFC9-F7A810CA5A53}"/>
              </a:ext>
            </a:extLst>
          </p:cNvPr>
          <p:cNvSpPr/>
          <p:nvPr/>
        </p:nvSpPr>
        <p:spPr>
          <a:xfrm>
            <a:off x="365760" y="3044952"/>
            <a:ext cx="4206240" cy="1600200"/>
          </a:xfrm>
          <a:prstGeom prst="rect">
            <a:avLst/>
          </a:prstGeom>
          <a:noFill/>
          <a:ln w="6350">
            <a:noFill/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0107DB61-D381-BCEB-6682-CE90ED1565C3}"/>
              </a:ext>
            </a:extLst>
          </p:cNvPr>
          <p:cNvSpPr/>
          <p:nvPr/>
        </p:nvSpPr>
        <p:spPr>
          <a:xfrm>
            <a:off x="365760" y="3044952"/>
            <a:ext cx="4206240" cy="2743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79746301-A1C6-C7D2-7D2E-F0038926FA66}"/>
              </a:ext>
            </a:extLst>
          </p:cNvPr>
          <p:cNvSpPr/>
          <p:nvPr/>
        </p:nvSpPr>
        <p:spPr>
          <a:xfrm>
            <a:off x="457200" y="3081528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One-Way ANOVA</a:t>
            </a:r>
            <a:endParaRPr lang="en-US" sz="105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96EE83E9-5731-3D28-70CE-7304EDFEC4D0}"/>
              </a:ext>
            </a:extLst>
          </p:cNvPr>
          <p:cNvSpPr/>
          <p:nvPr/>
        </p:nvSpPr>
        <p:spPr>
          <a:xfrm>
            <a:off x="457200" y="3374136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CF0FFEA4-CCF5-9581-4213-0C736BD96ABA}"/>
              </a:ext>
            </a:extLst>
          </p:cNvPr>
          <p:cNvSpPr/>
          <p:nvPr/>
        </p:nvSpPr>
        <p:spPr>
          <a:xfrm>
            <a:off x="457200" y="3794760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A8646732-69EA-8F85-202B-B3ED0FE45A61}"/>
              </a:ext>
            </a:extLst>
          </p:cNvPr>
          <p:cNvSpPr/>
          <p:nvPr/>
        </p:nvSpPr>
        <p:spPr>
          <a:xfrm>
            <a:off x="2286000" y="3794760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100" dirty="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ADC65AD8-D05F-AEEB-E0A1-BD9CB93F2691}"/>
              </a:ext>
            </a:extLst>
          </p:cNvPr>
          <p:cNvSpPr/>
          <p:nvPr/>
        </p:nvSpPr>
        <p:spPr>
          <a:xfrm>
            <a:off x="457200" y="4123944"/>
            <a:ext cx="4005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9BDA0706-C006-6B8B-7887-0E61D9B92A26}"/>
              </a:ext>
            </a:extLst>
          </p:cNvPr>
          <p:cNvSpPr/>
          <p:nvPr/>
        </p:nvSpPr>
        <p:spPr>
          <a:xfrm>
            <a:off x="4800600" y="1325880"/>
            <a:ext cx="4206240" cy="1600200"/>
          </a:xfrm>
          <a:prstGeom prst="rect">
            <a:avLst/>
          </a:prstGeom>
          <a:noFill/>
          <a:ln w="6350">
            <a:noFill/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F05E34E3-A0AD-7548-0C7E-46717A521F78}"/>
              </a:ext>
            </a:extLst>
          </p:cNvPr>
          <p:cNvSpPr/>
          <p:nvPr/>
        </p:nvSpPr>
        <p:spPr>
          <a:xfrm>
            <a:off x="4800600" y="1325880"/>
            <a:ext cx="4206240" cy="274320"/>
          </a:xfrm>
          <a:prstGeom prst="rect">
            <a:avLst/>
          </a:prstGeom>
          <a:solidFill>
            <a:srgbClr val="5B21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685E8050-BD93-49C1-981C-D500ECCB28B7}"/>
              </a:ext>
            </a:extLst>
          </p:cNvPr>
          <p:cNvSpPr/>
          <p:nvPr/>
        </p:nvSpPr>
        <p:spPr>
          <a:xfrm>
            <a:off x="4892040" y="1362456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Chi-Square Test</a:t>
            </a:r>
            <a:endParaRPr lang="en-US" sz="1050" dirty="0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F9E26731-25A8-858E-D12D-A46F93CBF9C4}"/>
              </a:ext>
            </a:extLst>
          </p:cNvPr>
          <p:cNvSpPr/>
          <p:nvPr/>
        </p:nvSpPr>
        <p:spPr>
          <a:xfrm>
            <a:off x="4892040" y="1655064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A44D3978-1664-A6A2-F952-1FF8144E56F1}"/>
              </a:ext>
            </a:extLst>
          </p:cNvPr>
          <p:cNvSpPr/>
          <p:nvPr/>
        </p:nvSpPr>
        <p:spPr>
          <a:xfrm>
            <a:off x="4892040" y="2075688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D4344AD5-50A0-7D3D-D20E-DF9B8C74DDAF}"/>
              </a:ext>
            </a:extLst>
          </p:cNvPr>
          <p:cNvSpPr/>
          <p:nvPr/>
        </p:nvSpPr>
        <p:spPr>
          <a:xfrm>
            <a:off x="6720840" y="2075688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100" dirty="0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08716504-89E7-0696-C86B-2633631D6143}"/>
              </a:ext>
            </a:extLst>
          </p:cNvPr>
          <p:cNvSpPr/>
          <p:nvPr/>
        </p:nvSpPr>
        <p:spPr>
          <a:xfrm>
            <a:off x="4892040" y="2404872"/>
            <a:ext cx="4005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EF609340-DF8B-B127-A3CE-14DC2B1D1BF7}"/>
              </a:ext>
            </a:extLst>
          </p:cNvPr>
          <p:cNvSpPr/>
          <p:nvPr/>
        </p:nvSpPr>
        <p:spPr>
          <a:xfrm>
            <a:off x="4800600" y="3044952"/>
            <a:ext cx="4206240" cy="1600200"/>
          </a:xfrm>
          <a:prstGeom prst="rect">
            <a:avLst/>
          </a:prstGeom>
          <a:noFill/>
          <a:ln w="6350">
            <a:noFill/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871FB276-C973-FF93-71FE-D7F7B46A905C}"/>
              </a:ext>
            </a:extLst>
          </p:cNvPr>
          <p:cNvSpPr/>
          <p:nvPr/>
        </p:nvSpPr>
        <p:spPr>
          <a:xfrm>
            <a:off x="4800600" y="3044952"/>
            <a:ext cx="4206240" cy="27432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D4042545-018D-4ABC-5E28-087D79B7C618}"/>
              </a:ext>
            </a:extLst>
          </p:cNvPr>
          <p:cNvSpPr/>
          <p:nvPr/>
        </p:nvSpPr>
        <p:spPr>
          <a:xfrm>
            <a:off x="4892040" y="3081528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Pearson Correlation</a:t>
            </a:r>
            <a:endParaRPr lang="en-US" sz="1050" dirty="0"/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985E55A8-192E-1D42-D8C8-2EEFE8E79963}"/>
              </a:ext>
            </a:extLst>
          </p:cNvPr>
          <p:cNvSpPr/>
          <p:nvPr/>
        </p:nvSpPr>
        <p:spPr>
          <a:xfrm>
            <a:off x="4892040" y="3374136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608CE685-4B39-B778-853D-9D2DDBDF1283}"/>
              </a:ext>
            </a:extLst>
          </p:cNvPr>
          <p:cNvSpPr/>
          <p:nvPr/>
        </p:nvSpPr>
        <p:spPr>
          <a:xfrm>
            <a:off x="4892040" y="3794760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8B11CA9D-0025-9F35-98F6-3AE096DBCB88}"/>
              </a:ext>
            </a:extLst>
          </p:cNvPr>
          <p:cNvSpPr/>
          <p:nvPr/>
        </p:nvSpPr>
        <p:spPr>
          <a:xfrm>
            <a:off x="6720840" y="3794760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100" dirty="0"/>
          </a:p>
        </p:txBody>
      </p:sp>
      <p:sp>
        <p:nvSpPr>
          <p:cNvPr id="43" name="Text 41">
            <a:extLst>
              <a:ext uri="{FF2B5EF4-FFF2-40B4-BE49-F238E27FC236}">
                <a16:creationId xmlns:a16="http://schemas.microsoft.com/office/drawing/2014/main" id="{F0EE9D43-5D27-901F-A283-1358B525BD47}"/>
              </a:ext>
            </a:extLst>
          </p:cNvPr>
          <p:cNvSpPr/>
          <p:nvPr/>
        </p:nvSpPr>
        <p:spPr>
          <a:xfrm>
            <a:off x="4892040" y="4123944"/>
            <a:ext cx="4005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44" name="Shape 42">
            <a:extLst>
              <a:ext uri="{FF2B5EF4-FFF2-40B4-BE49-F238E27FC236}">
                <a16:creationId xmlns:a16="http://schemas.microsoft.com/office/drawing/2014/main" id="{5CB122DA-CC35-C825-8655-757A9B320667}"/>
              </a:ext>
            </a:extLst>
          </p:cNvPr>
          <p:cNvSpPr/>
          <p:nvPr/>
        </p:nvSpPr>
        <p:spPr>
          <a:xfrm>
            <a:off x="365760" y="4773168"/>
            <a:ext cx="8412480" cy="29260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>
            <a:extLst>
              <a:ext uri="{FF2B5EF4-FFF2-40B4-BE49-F238E27FC236}">
                <a16:creationId xmlns:a16="http://schemas.microsoft.com/office/drawing/2014/main" id="{F097DF06-39F6-C761-3FB1-D2CA1E98BE19}"/>
              </a:ext>
            </a:extLst>
          </p:cNvPr>
          <p:cNvSpPr/>
          <p:nvPr/>
        </p:nvSpPr>
        <p:spPr>
          <a:xfrm>
            <a:off x="365760" y="4773168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ADCFC"/>
                </a:solidFill>
              </a:rPr>
              <a:t>All 4 tests returned p &gt; 0.05 - We FAIL TO REJECT H0</a:t>
            </a:r>
            <a:endParaRPr lang="en-US" sz="11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36FD335-EBBA-EA6F-0622-D236F5CB9730}"/>
              </a:ext>
            </a:extLst>
          </p:cNvPr>
          <p:cNvSpPr txBox="1"/>
          <p:nvPr/>
        </p:nvSpPr>
        <p:spPr>
          <a:xfrm>
            <a:off x="347472" y="1655939"/>
            <a:ext cx="40233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/>
              <a:t>Assumptions:</a:t>
            </a:r>
          </a:p>
          <a:p>
            <a:r>
              <a:rPr lang="en-US" sz="900" b="1" dirty="0"/>
              <a:t>1. Independence of observations</a:t>
            </a:r>
            <a:br>
              <a:rPr lang="en-US" sz="900" dirty="0"/>
            </a:br>
            <a:r>
              <a:rPr lang="en-US" sz="900" dirty="0"/>
              <a:t>→ Each employee’s rating is not influenced by another </a:t>
            </a:r>
          </a:p>
          <a:p>
            <a:r>
              <a:rPr lang="en-US" sz="900" b="1" dirty="0"/>
              <a:t>2. Normality</a:t>
            </a:r>
            <a:br>
              <a:rPr lang="en-US" sz="900" dirty="0"/>
            </a:br>
            <a:r>
              <a:rPr lang="en-US" sz="900" dirty="0"/>
              <a:t>→ ManagerRating should be approximately normally distributed </a:t>
            </a:r>
          </a:p>
          <a:p>
            <a:r>
              <a:rPr lang="en-US" sz="900" b="1" dirty="0"/>
              <a:t>3. Homogeneity of variance</a:t>
            </a:r>
            <a:br>
              <a:rPr lang="en-US" sz="900" dirty="0"/>
            </a:br>
            <a:r>
              <a:rPr lang="en-US" sz="900" dirty="0"/>
              <a:t>→ Both groups should have similar variance</a:t>
            </a:r>
          </a:p>
          <a:p>
            <a:endParaRPr lang="en-US" sz="900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9E220CC-FD9C-5B67-A82C-57A8C434A398}"/>
              </a:ext>
            </a:extLst>
          </p:cNvPr>
          <p:cNvSpPr txBox="1"/>
          <p:nvPr/>
        </p:nvSpPr>
        <p:spPr>
          <a:xfrm>
            <a:off x="365760" y="3483864"/>
            <a:ext cx="4572000" cy="1061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b="1" dirty="0"/>
              <a:t>Assumptions:</a:t>
            </a:r>
          </a:p>
          <a:p>
            <a:r>
              <a:rPr lang="en-US" sz="900" b="1" dirty="0"/>
              <a:t>1. Independence of observations</a:t>
            </a:r>
            <a:br>
              <a:rPr lang="en-US" sz="900" dirty="0"/>
            </a:br>
            <a:r>
              <a:rPr lang="en-US" sz="900" dirty="0"/>
              <a:t>→ Each employee’s rating is not influenced by another </a:t>
            </a:r>
          </a:p>
          <a:p>
            <a:r>
              <a:rPr lang="en-US" sz="900" b="1" dirty="0"/>
              <a:t>2. Normality</a:t>
            </a:r>
            <a:br>
              <a:rPr lang="en-US" sz="900" dirty="0"/>
            </a:br>
            <a:r>
              <a:rPr lang="en-US" sz="900" dirty="0"/>
              <a:t>→ ManagerRating should be approximately normally distributed </a:t>
            </a:r>
          </a:p>
          <a:p>
            <a:r>
              <a:rPr lang="en-US" sz="900" b="1" dirty="0"/>
              <a:t>3. Homogeneity of variance</a:t>
            </a:r>
            <a:br>
              <a:rPr lang="en-US" sz="900" dirty="0"/>
            </a:br>
            <a:r>
              <a:rPr lang="en-US" sz="900" dirty="0"/>
              <a:t>→ Both groups should have similar variance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93B215C-A886-E8A5-E1B5-413DACB2C103}"/>
              </a:ext>
            </a:extLst>
          </p:cNvPr>
          <p:cNvSpPr txBox="1"/>
          <p:nvPr/>
        </p:nvSpPr>
        <p:spPr>
          <a:xfrm>
            <a:off x="4892040" y="1703677"/>
            <a:ext cx="3840480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/>
              <a:t>Assumptions:</a:t>
            </a:r>
          </a:p>
          <a:p>
            <a:r>
              <a:rPr lang="en-US" sz="900" b="1" dirty="0"/>
              <a:t>1. Independence of observations</a:t>
            </a:r>
            <a:r>
              <a:rPr lang="en-US" sz="900" dirty="0"/>
              <a:t> </a:t>
            </a:r>
          </a:p>
          <a:p>
            <a:r>
              <a:rPr lang="en-US" sz="900" b="1" dirty="0"/>
              <a:t>2. Expected frequency ≥ 5 in each cell (</a:t>
            </a:r>
            <a:r>
              <a:rPr lang="en-US" sz="900" dirty="0"/>
              <a:t>Each cell in the table must have enough data (at least 5) for the Chi-square test to be reliable)</a:t>
            </a:r>
          </a:p>
          <a:p>
            <a:endParaRPr lang="en-US" sz="900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78E4E1F-6FF5-AC97-A9CF-3393F0BD820C}"/>
              </a:ext>
            </a:extLst>
          </p:cNvPr>
          <p:cNvSpPr txBox="1"/>
          <p:nvPr/>
        </p:nvSpPr>
        <p:spPr>
          <a:xfrm>
            <a:off x="4937760" y="3520547"/>
            <a:ext cx="3840480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/>
              <a:t>Assumptions:</a:t>
            </a:r>
          </a:p>
          <a:p>
            <a:r>
              <a:rPr lang="en-US" sz="900" b="1" dirty="0"/>
              <a:t>1. Linearity</a:t>
            </a:r>
            <a:br>
              <a:rPr lang="en-US" sz="900" dirty="0"/>
            </a:br>
            <a:r>
              <a:rPr lang="en-US" sz="900" dirty="0"/>
              <a:t>→ Relationship should be roughly a straight line </a:t>
            </a:r>
          </a:p>
          <a:p>
            <a:r>
              <a:rPr lang="en-US" sz="900" b="1" dirty="0"/>
              <a:t>2. Normality (approximate)</a:t>
            </a:r>
            <a:r>
              <a:rPr lang="en-US" sz="900" dirty="0"/>
              <a:t> </a:t>
            </a:r>
          </a:p>
          <a:p>
            <a:r>
              <a:rPr lang="en-US" sz="900" b="1" dirty="0"/>
              <a:t>3. No extreme outliers (</a:t>
            </a:r>
            <a:r>
              <a:rPr lang="en-US" sz="900" dirty="0"/>
              <a:t>there should not be unusually large or small values in the data, because they can distort the correlation and give misleading results)</a:t>
            </a:r>
          </a:p>
          <a:p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6312073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320040" cy="804672"/>
          </a:xfrm>
          <a:prstGeom prst="rect">
            <a:avLst/>
          </a:prstGeom>
          <a:solidFill>
            <a:srgbClr val="1620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18872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Predictive Model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530352"/>
            <a:ext cx="7315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BA3E8"/>
                </a:solidFill>
              </a:rPr>
              <a:t>Multiple Linear Regression + Logistic Regression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65760" y="914400"/>
            <a:ext cx="4160520" cy="37124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914400"/>
            <a:ext cx="4160520" cy="29260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75488" y="941832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Model 1 — Multiple Linear Regression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75488" y="1280160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</a:rPr>
              <a:t>Why this model: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75488" y="1508760"/>
            <a:ext cx="391363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Outcome (ManagerRating) is a NUMBER - scale 2 to 5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We have 7 predictor variables - so MULTIPLE, not simple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75488" y="2121408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</a:rPr>
              <a:t>Results: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" y="2359152"/>
            <a:ext cx="3931920" cy="438912"/>
          </a:xfrm>
          <a:prstGeom prst="rect">
            <a:avLst/>
          </a:prstGeom>
          <a:solidFill>
            <a:srgbClr val="F8FA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48640" y="2414016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</a:rPr>
              <a:t>R-squared: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920240" y="2404872"/>
            <a:ext cx="822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</a:rPr>
              <a:t>0.729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788920" y="2450592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</a:rPr>
              <a:t>72.9% variance explained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75488" y="2862072"/>
            <a:ext cx="3931920" cy="438912"/>
          </a:xfrm>
          <a:prstGeom prst="rect">
            <a:avLst/>
          </a:prstGeom>
          <a:solidFill>
            <a:srgbClr val="FEF3C7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48640" y="2916936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97706"/>
                </a:solidFill>
              </a:rPr>
              <a:t>Training coef: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920240" y="2907792"/>
            <a:ext cx="822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97706"/>
                </a:solidFill>
              </a:rPr>
              <a:t>0.000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788920" y="2953512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</a:rPr>
              <a:t>No effect on rating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75488" y="3364992"/>
            <a:ext cx="3931920" cy="438912"/>
          </a:xfrm>
          <a:prstGeom prst="rect">
            <a:avLst/>
          </a:prstGeom>
          <a:solidFill>
            <a:srgbClr val="F8FA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48640" y="3419856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</a:rPr>
              <a:t>SelfRating coef: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920240" y="3410712"/>
            <a:ext cx="822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</a:rPr>
              <a:t>1.008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788920" y="3456432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</a:rPr>
              <a:t>Dominant predictor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663440" y="914400"/>
            <a:ext cx="4114800" cy="37993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663440" y="914400"/>
            <a:ext cx="4114800" cy="29260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773168" y="941832"/>
            <a:ext cx="3886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Model 2 — Logistic Regression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773168" y="1280160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</a:rPr>
              <a:t>Why this model: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754880" y="1421383"/>
            <a:ext cx="38862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Outcome (HighPerformer) is a CATEGORY - High or Low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Linear regression cannot predict categories - predicts numbers only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Logistic regression converts output to probability, then classifies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773168" y="226771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</a:rPr>
              <a:t>Results: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73168" y="2478024"/>
            <a:ext cx="3931920" cy="519853"/>
          </a:xfrm>
          <a:prstGeom prst="rect">
            <a:avLst/>
          </a:prstGeom>
          <a:solidFill>
            <a:srgbClr val="F0FDF8"/>
          </a:solidFill>
          <a:ln w="6350">
            <a:solidFill>
              <a:srgbClr val="BBF7E0"/>
            </a:solidFill>
            <a:prstDash val="solid"/>
          </a:ln>
        </p:spPr>
        <p:txBody>
          <a:bodyPr/>
          <a:lstStyle/>
          <a:p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864608" y="2578608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1050" dirty="0">
              <a:solidFill>
                <a:srgbClr val="1E293B"/>
              </a:solidFill>
            </a:endParaRPr>
          </a:p>
          <a:p>
            <a:r>
              <a:rPr lang="en-US" sz="1050" dirty="0">
                <a:solidFill>
                  <a:srgbClr val="1E293B"/>
                </a:solidFill>
              </a:rPr>
              <a:t>Accuracy: 84.4%  (</a:t>
            </a:r>
            <a:r>
              <a:rPr lang="en-US" sz="1050" dirty="0"/>
              <a:t>84 out of 100 correctly classified)</a:t>
            </a:r>
            <a:r>
              <a:rPr lang="en-US" sz="1050" dirty="0">
                <a:solidFill>
                  <a:srgbClr val="1E293B"/>
                </a:solidFill>
              </a:rPr>
              <a:t> </a:t>
            </a:r>
          </a:p>
          <a:p>
            <a:r>
              <a:rPr lang="en-US" sz="1050" dirty="0">
                <a:solidFill>
                  <a:srgbClr val="1E293B"/>
                </a:solidFill>
              </a:rPr>
              <a:t>Precision: 83% (</a:t>
            </a:r>
            <a:r>
              <a:rPr lang="en-US" sz="1050" dirty="0"/>
              <a:t>of predicted High, 83% actually were High)</a:t>
            </a:r>
          </a:p>
          <a:p>
            <a:r>
              <a:rPr lang="en-US" sz="1050" dirty="0"/>
              <a:t>Recall: 86% (of actual High, 86% correctly found)</a:t>
            </a:r>
          </a:p>
        </p:txBody>
      </p:sp>
      <p:sp>
        <p:nvSpPr>
          <p:cNvPr id="33" name="Text 31"/>
          <p:cNvSpPr/>
          <p:nvPr/>
        </p:nvSpPr>
        <p:spPr>
          <a:xfrm>
            <a:off x="7132320" y="2569464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773168" y="3021582"/>
            <a:ext cx="3931920" cy="1651002"/>
          </a:xfrm>
          <a:prstGeom prst="rect">
            <a:avLst/>
          </a:prstGeom>
          <a:solidFill>
            <a:srgbClr val="F0FDF8"/>
          </a:solidFill>
          <a:ln w="6350">
            <a:solidFill>
              <a:srgbClr val="BBF7E0"/>
            </a:solidFill>
            <a:prstDash val="solid"/>
          </a:ln>
        </p:spPr>
        <p:txBody>
          <a:bodyPr/>
          <a:lstStyle/>
          <a:p>
            <a:r>
              <a:rPr lang="en-US" sz="1050" b="1" dirty="0"/>
              <a:t>TrainingOpportunitiesWithinYear (p = 0.1459)</a:t>
            </a:r>
            <a:br>
              <a:rPr lang="en-US" sz="1050" dirty="0"/>
            </a:br>
            <a:r>
              <a:rPr lang="en-US" sz="1050" dirty="0"/>
              <a:t>→ Not statistically significant</a:t>
            </a:r>
            <a:br>
              <a:rPr lang="en-US" sz="1050" dirty="0"/>
            </a:br>
            <a:r>
              <a:rPr lang="en-US" sz="1050" dirty="0"/>
              <a:t>→ Does not meaningfully affect probability of being a High Performer </a:t>
            </a:r>
          </a:p>
          <a:p>
            <a:r>
              <a:rPr lang="en-US" sz="1050" b="1" dirty="0" err="1"/>
              <a:t>SelfRating</a:t>
            </a:r>
            <a:br>
              <a:rPr lang="en-US" sz="1050" dirty="0"/>
            </a:br>
            <a:r>
              <a:rPr lang="en-US" sz="1050" dirty="0"/>
              <a:t>→ Strongest significant predictor of High Performance </a:t>
            </a:r>
          </a:p>
          <a:p>
            <a:br>
              <a:rPr lang="en-US" sz="1050" dirty="0"/>
            </a:br>
            <a:r>
              <a:rPr lang="en-US" sz="1050" dirty="0"/>
              <a:t>The model predicts performance well overall, but training does not significantly influence whether an employee is classified as a High Performer.</a:t>
            </a:r>
          </a:p>
          <a:p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864608" y="3081528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7132320" y="3072384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4864608" y="3584448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7132320" y="3575304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4864608" y="4087368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7132320" y="4078224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50" dirty="0"/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D973808F-9302-2097-2819-B2F25ECEC426}"/>
              </a:ext>
            </a:extLst>
          </p:cNvPr>
          <p:cNvGrpSpPr/>
          <p:nvPr/>
        </p:nvGrpSpPr>
        <p:grpSpPr>
          <a:xfrm>
            <a:off x="384048" y="4754880"/>
            <a:ext cx="8412480" cy="320040"/>
            <a:chOff x="384048" y="4535424"/>
            <a:chExt cx="8412480" cy="320040"/>
          </a:xfrm>
        </p:grpSpPr>
        <p:sp>
          <p:nvSpPr>
            <p:cNvPr id="46" name="Shape 44"/>
            <p:cNvSpPr/>
            <p:nvPr/>
          </p:nvSpPr>
          <p:spPr>
            <a:xfrm>
              <a:off x="384048" y="4535424"/>
              <a:ext cx="8412480" cy="320040"/>
            </a:xfrm>
            <a:prstGeom prst="rect">
              <a:avLst/>
            </a:prstGeom>
            <a:solidFill>
              <a:srgbClr val="E6EFFE"/>
            </a:solidFill>
            <a:ln w="6350">
              <a:solidFill>
                <a:srgbClr val="CADCFC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Text 45"/>
            <p:cNvSpPr/>
            <p:nvPr/>
          </p:nvSpPr>
          <p:spPr>
            <a:xfrm>
              <a:off x="475488" y="4567428"/>
              <a:ext cx="8229600" cy="24688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1E2761"/>
                  </a:solidFill>
                </a:rPr>
                <a:t>Both models confirm: Training variables have near-zero coefficients - feedback does not predict performance.</a:t>
              </a:r>
              <a:endParaRPr lang="en-US" sz="1000" dirty="0"/>
            </a:p>
          </p:txBody>
        </p:sp>
      </p:grpSp>
      <p:sp>
        <p:nvSpPr>
          <p:cNvPr id="49" name="Text 47"/>
          <p:cNvSpPr/>
          <p:nvPr/>
        </p:nvSpPr>
        <p:spPr>
          <a:xfrm>
            <a:off x="365760" y="4626864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4B41A25-5ACB-4483-C511-FA8394B92F26}"/>
              </a:ext>
            </a:extLst>
          </p:cNvPr>
          <p:cNvSpPr txBox="1"/>
          <p:nvPr/>
        </p:nvSpPr>
        <p:spPr>
          <a:xfrm>
            <a:off x="578781" y="3905155"/>
            <a:ext cx="372533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High R² is mainly due to </a:t>
            </a:r>
            <a:r>
              <a:rPr lang="en-US" sz="1000" dirty="0" err="1"/>
              <a:t>SelfRating</a:t>
            </a:r>
            <a:r>
              <a:rPr lang="en-US" sz="1000" dirty="0"/>
              <a:t>, not feedback variables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3386D2-6843-AB2D-E126-8CF17575AF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681C5A0-2302-54BE-3826-8DCD8B05041F}"/>
              </a:ext>
            </a:extLst>
          </p:cNvPr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EC01119-B4F1-33D9-2D11-572D028E977A}"/>
              </a:ext>
            </a:extLst>
          </p:cNvPr>
          <p:cNvSpPr/>
          <p:nvPr/>
        </p:nvSpPr>
        <p:spPr>
          <a:xfrm>
            <a:off x="0" y="0"/>
            <a:ext cx="320040" cy="804672"/>
          </a:xfrm>
          <a:prstGeom prst="rect">
            <a:avLst/>
          </a:prstGeom>
          <a:solidFill>
            <a:srgbClr val="1620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BD9B5D5-9E42-303E-0554-99622D8A0EDD}"/>
              </a:ext>
            </a:extLst>
          </p:cNvPr>
          <p:cNvSpPr/>
          <p:nvPr/>
        </p:nvSpPr>
        <p:spPr>
          <a:xfrm>
            <a:off x="457200" y="118872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Predictive Model</a:t>
            </a:r>
            <a:endParaRPr lang="en-US" sz="20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4EC07EA-E475-6E6E-75F3-9421B1AC43A7}"/>
              </a:ext>
            </a:extLst>
          </p:cNvPr>
          <p:cNvSpPr/>
          <p:nvPr/>
        </p:nvSpPr>
        <p:spPr>
          <a:xfrm>
            <a:off x="457200" y="530352"/>
            <a:ext cx="7315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BA3E8"/>
                </a:solidFill>
              </a:rPr>
              <a:t>Multiple Linear Regression + Logistic Regression</a:t>
            </a:r>
            <a:endParaRPr lang="en-US" sz="95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F90F6375-1F3F-84D2-76BE-6719E8C27048}"/>
              </a:ext>
            </a:extLst>
          </p:cNvPr>
          <p:cNvSpPr/>
          <p:nvPr/>
        </p:nvSpPr>
        <p:spPr>
          <a:xfrm>
            <a:off x="365760" y="907627"/>
            <a:ext cx="4160520" cy="37124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1200" b="1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1200" b="1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100" b="1" dirty="0">
                <a:latin typeface="Arial" panose="020B0604020202020204" pitchFamily="34" charset="0"/>
              </a:rPr>
              <a:t>Assumptions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1100" b="1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100" b="1" dirty="0">
                <a:latin typeface="Arial" panose="020B0604020202020204" pitchFamily="34" charset="0"/>
              </a:rPr>
              <a:t>Linearity:</a:t>
            </a:r>
            <a:r>
              <a:rPr lang="en-US" altLang="en-US" sz="1100" dirty="0">
                <a:latin typeface="Arial" panose="020B0604020202020204" pitchFamily="34" charset="0"/>
              </a:rPr>
              <a:t> Relationship between predictors and ManagerRating is linear.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100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100" b="1" dirty="0">
                <a:latin typeface="Arial" panose="020B0604020202020204" pitchFamily="34" charset="0"/>
              </a:rPr>
              <a:t>Independence:</a:t>
            </a:r>
            <a:r>
              <a:rPr lang="en-US" altLang="en-US" sz="1100" dirty="0">
                <a:latin typeface="Arial" panose="020B0604020202020204" pitchFamily="34" charset="0"/>
              </a:rPr>
              <a:t> Each employee observation is independent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100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100" b="1" dirty="0">
                <a:latin typeface="Arial" panose="020B0604020202020204" pitchFamily="34" charset="0"/>
              </a:rPr>
              <a:t>No Multicollinearity:</a:t>
            </a:r>
            <a:r>
              <a:rPr lang="en-US" altLang="en-US" sz="1100" dirty="0">
                <a:latin typeface="Arial" panose="020B0604020202020204" pitchFamily="34" charset="0"/>
              </a:rPr>
              <a:t> Predictors are not highly correlated with each other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100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100" b="1" dirty="0">
                <a:latin typeface="Arial" panose="020B0604020202020204" pitchFamily="34" charset="0"/>
              </a:rPr>
              <a:t>Homoscedasticity:</a:t>
            </a:r>
            <a:r>
              <a:rPr lang="en-US" altLang="en-US" sz="1100" dirty="0">
                <a:latin typeface="Arial" panose="020B0604020202020204" pitchFamily="34" charset="0"/>
              </a:rPr>
              <a:t> Constant variance of residuals across all levels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100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100" b="1" dirty="0">
                <a:latin typeface="Arial" panose="020B0604020202020204" pitchFamily="34" charset="0"/>
              </a:rPr>
              <a:t>Normality of Residuals:</a:t>
            </a:r>
            <a:r>
              <a:rPr lang="en-US" altLang="en-US" sz="1100" dirty="0">
                <a:latin typeface="Arial" panose="020B0604020202020204" pitchFamily="34" charset="0"/>
              </a:rPr>
              <a:t> Errors are approximately normally distributed </a:t>
            </a: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B0651EF1-3ED7-C36E-B67B-01C3DFDF1664}"/>
              </a:ext>
            </a:extLst>
          </p:cNvPr>
          <p:cNvSpPr/>
          <p:nvPr/>
        </p:nvSpPr>
        <p:spPr>
          <a:xfrm>
            <a:off x="365760" y="914400"/>
            <a:ext cx="4160520" cy="29260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0467E551-3986-FDBF-B297-460049444ED7}"/>
              </a:ext>
            </a:extLst>
          </p:cNvPr>
          <p:cNvSpPr/>
          <p:nvPr/>
        </p:nvSpPr>
        <p:spPr>
          <a:xfrm>
            <a:off x="475488" y="941832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Model 1 - Multiple Linear Regression</a:t>
            </a:r>
            <a:endParaRPr lang="en-US" sz="105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98B45B43-2FFE-CACF-1CAD-30F065C8F572}"/>
              </a:ext>
            </a:extLst>
          </p:cNvPr>
          <p:cNvSpPr/>
          <p:nvPr/>
        </p:nvSpPr>
        <p:spPr>
          <a:xfrm>
            <a:off x="475488" y="1280160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FBFAF470-270C-CC2E-7067-96DEB0BECA56}"/>
              </a:ext>
            </a:extLst>
          </p:cNvPr>
          <p:cNvSpPr/>
          <p:nvPr/>
        </p:nvSpPr>
        <p:spPr>
          <a:xfrm>
            <a:off x="475488" y="1508760"/>
            <a:ext cx="391363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500"/>
              </a:spcAft>
              <a:buSzPct val="100000"/>
            </a:pPr>
            <a:endParaRPr lang="en-US" sz="10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6E1987CA-E1CD-23EB-56FE-B83DF653F76A}"/>
              </a:ext>
            </a:extLst>
          </p:cNvPr>
          <p:cNvSpPr/>
          <p:nvPr/>
        </p:nvSpPr>
        <p:spPr>
          <a:xfrm>
            <a:off x="475488" y="2121408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7DEFBA84-74B5-045F-D2B3-CBC95B26EC12}"/>
              </a:ext>
            </a:extLst>
          </p:cNvPr>
          <p:cNvSpPr/>
          <p:nvPr/>
        </p:nvSpPr>
        <p:spPr>
          <a:xfrm>
            <a:off x="548640" y="2414016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A5B03BC1-60EF-6559-220D-60C0617838ED}"/>
              </a:ext>
            </a:extLst>
          </p:cNvPr>
          <p:cNvSpPr/>
          <p:nvPr/>
        </p:nvSpPr>
        <p:spPr>
          <a:xfrm>
            <a:off x="1920240" y="2404872"/>
            <a:ext cx="822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6746E6BB-194F-93ED-F899-B09C869D8D65}"/>
              </a:ext>
            </a:extLst>
          </p:cNvPr>
          <p:cNvSpPr/>
          <p:nvPr/>
        </p:nvSpPr>
        <p:spPr>
          <a:xfrm>
            <a:off x="2788920" y="2450592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2C8C1EBA-223B-81D7-ACC9-DEB6E8261E2A}"/>
              </a:ext>
            </a:extLst>
          </p:cNvPr>
          <p:cNvSpPr/>
          <p:nvPr/>
        </p:nvSpPr>
        <p:spPr>
          <a:xfrm>
            <a:off x="548640" y="2916936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1972C42C-C899-96E1-BAB0-3CE3949BF673}"/>
              </a:ext>
            </a:extLst>
          </p:cNvPr>
          <p:cNvSpPr/>
          <p:nvPr/>
        </p:nvSpPr>
        <p:spPr>
          <a:xfrm>
            <a:off x="1920240" y="2907792"/>
            <a:ext cx="822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F0979C3F-4A41-3EBA-F59F-A6B8D8F29666}"/>
              </a:ext>
            </a:extLst>
          </p:cNvPr>
          <p:cNvSpPr/>
          <p:nvPr/>
        </p:nvSpPr>
        <p:spPr>
          <a:xfrm>
            <a:off x="2788920" y="2953512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B56BF633-FBCE-968E-CA86-2A4B5120A07F}"/>
              </a:ext>
            </a:extLst>
          </p:cNvPr>
          <p:cNvSpPr/>
          <p:nvPr/>
        </p:nvSpPr>
        <p:spPr>
          <a:xfrm>
            <a:off x="548640" y="3419856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A6288EE7-6D04-4C3F-3BA5-E19655B05F65}"/>
              </a:ext>
            </a:extLst>
          </p:cNvPr>
          <p:cNvSpPr/>
          <p:nvPr/>
        </p:nvSpPr>
        <p:spPr>
          <a:xfrm>
            <a:off x="1920240" y="3410712"/>
            <a:ext cx="822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BC134C87-7A1C-6CC7-B792-3961225818C0}"/>
              </a:ext>
            </a:extLst>
          </p:cNvPr>
          <p:cNvSpPr/>
          <p:nvPr/>
        </p:nvSpPr>
        <p:spPr>
          <a:xfrm>
            <a:off x="2788920" y="3456432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02D60D72-F804-ADFC-EDD3-3A5EEF3566B2}"/>
              </a:ext>
            </a:extLst>
          </p:cNvPr>
          <p:cNvSpPr/>
          <p:nvPr/>
        </p:nvSpPr>
        <p:spPr>
          <a:xfrm>
            <a:off x="4663440" y="914400"/>
            <a:ext cx="4114800" cy="37124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  <a:p>
            <a:endParaRPr lang="en-US" altLang="en-US" sz="1100" dirty="0"/>
          </a:p>
          <a:p>
            <a:r>
              <a:rPr lang="en-US" altLang="en-US" sz="1100" b="1" dirty="0">
                <a:latin typeface="Arial" panose="020B0604020202020204" pitchFamily="34" charset="0"/>
              </a:rPr>
              <a:t>Assumptions</a:t>
            </a:r>
          </a:p>
          <a:p>
            <a:endParaRPr lang="en-US" dirty="0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9E11CA7F-10AD-F069-3536-1E8B81E209FF}"/>
              </a:ext>
            </a:extLst>
          </p:cNvPr>
          <p:cNvSpPr/>
          <p:nvPr/>
        </p:nvSpPr>
        <p:spPr>
          <a:xfrm>
            <a:off x="4663440" y="914400"/>
            <a:ext cx="4114800" cy="29260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8C26BD53-C7CE-381D-F4CF-21B47D9B26B6}"/>
              </a:ext>
            </a:extLst>
          </p:cNvPr>
          <p:cNvSpPr/>
          <p:nvPr/>
        </p:nvSpPr>
        <p:spPr>
          <a:xfrm>
            <a:off x="4773168" y="941832"/>
            <a:ext cx="3886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Model 2 - Logistic Regression</a:t>
            </a:r>
            <a:endParaRPr lang="en-US" sz="1050" dirty="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0531834D-6B48-0F42-5A98-4BC8DCF9A186}"/>
              </a:ext>
            </a:extLst>
          </p:cNvPr>
          <p:cNvSpPr/>
          <p:nvPr/>
        </p:nvSpPr>
        <p:spPr>
          <a:xfrm>
            <a:off x="4773168" y="1280160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ECC51480-1FB6-AE59-807C-09318FCD5F68}"/>
              </a:ext>
            </a:extLst>
          </p:cNvPr>
          <p:cNvSpPr/>
          <p:nvPr/>
        </p:nvSpPr>
        <p:spPr>
          <a:xfrm>
            <a:off x="4773168" y="1508760"/>
            <a:ext cx="38862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500"/>
              </a:spcAft>
              <a:buSzPct val="100000"/>
            </a:pPr>
            <a:endParaRPr lang="en-US" sz="1000" dirty="0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FE729A72-73A0-FEC5-127F-7215C92AFCE9}"/>
              </a:ext>
            </a:extLst>
          </p:cNvPr>
          <p:cNvSpPr/>
          <p:nvPr/>
        </p:nvSpPr>
        <p:spPr>
          <a:xfrm>
            <a:off x="4773168" y="226771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9325E9B7-B49C-289C-55FE-ED5136BD7886}"/>
              </a:ext>
            </a:extLst>
          </p:cNvPr>
          <p:cNvSpPr/>
          <p:nvPr/>
        </p:nvSpPr>
        <p:spPr>
          <a:xfrm>
            <a:off x="4864608" y="2578608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DD6A1379-0946-C5DC-DDE2-11BDFFCC20BD}"/>
              </a:ext>
            </a:extLst>
          </p:cNvPr>
          <p:cNvSpPr/>
          <p:nvPr/>
        </p:nvSpPr>
        <p:spPr>
          <a:xfrm>
            <a:off x="7132320" y="2569464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84.4%</a:t>
            </a:r>
            <a:endParaRPr lang="en-US" sz="1050" dirty="0"/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097725EE-8E1F-2794-870A-878878CC0DC5}"/>
              </a:ext>
            </a:extLst>
          </p:cNvPr>
          <p:cNvSpPr/>
          <p:nvPr/>
        </p:nvSpPr>
        <p:spPr>
          <a:xfrm>
            <a:off x="4864608" y="3081528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D6FA4E04-EC99-80D5-9350-CCFEC9CC2CB2}"/>
              </a:ext>
            </a:extLst>
          </p:cNvPr>
          <p:cNvSpPr/>
          <p:nvPr/>
        </p:nvSpPr>
        <p:spPr>
          <a:xfrm>
            <a:off x="7132320" y="3072384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83%</a:t>
            </a:r>
            <a:endParaRPr lang="en-US" sz="1050" dirty="0"/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286855F9-F8AF-14AE-3B7C-A6787825169F}"/>
              </a:ext>
            </a:extLst>
          </p:cNvPr>
          <p:cNvSpPr/>
          <p:nvPr/>
        </p:nvSpPr>
        <p:spPr>
          <a:xfrm>
            <a:off x="4864608" y="3584448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4B6AC2ED-75C0-A465-9235-FF912622FD26}"/>
              </a:ext>
            </a:extLst>
          </p:cNvPr>
          <p:cNvSpPr/>
          <p:nvPr/>
        </p:nvSpPr>
        <p:spPr>
          <a:xfrm>
            <a:off x="7132320" y="3575304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86%</a:t>
            </a:r>
            <a:endParaRPr lang="en-US" sz="1050" dirty="0"/>
          </a:p>
        </p:txBody>
      </p:sp>
      <p:sp>
        <p:nvSpPr>
          <p:cNvPr id="43" name="Text 41">
            <a:extLst>
              <a:ext uri="{FF2B5EF4-FFF2-40B4-BE49-F238E27FC236}">
                <a16:creationId xmlns:a16="http://schemas.microsoft.com/office/drawing/2014/main" id="{DFAFA224-2725-4DE7-A408-12110E2CA167}"/>
              </a:ext>
            </a:extLst>
          </p:cNvPr>
          <p:cNvSpPr/>
          <p:nvPr/>
        </p:nvSpPr>
        <p:spPr>
          <a:xfrm>
            <a:off x="4864608" y="4087368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45" name="Text 43">
            <a:extLst>
              <a:ext uri="{FF2B5EF4-FFF2-40B4-BE49-F238E27FC236}">
                <a16:creationId xmlns:a16="http://schemas.microsoft.com/office/drawing/2014/main" id="{8D6FE3E1-4256-41CD-735F-CE8BCF0DB47C}"/>
              </a:ext>
            </a:extLst>
          </p:cNvPr>
          <p:cNvSpPr/>
          <p:nvPr/>
        </p:nvSpPr>
        <p:spPr>
          <a:xfrm>
            <a:off x="7132320" y="4078224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50" dirty="0"/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4E41B86D-F776-8003-3AA3-8F296232DD26}"/>
              </a:ext>
            </a:extLst>
          </p:cNvPr>
          <p:cNvGrpSpPr/>
          <p:nvPr/>
        </p:nvGrpSpPr>
        <p:grpSpPr>
          <a:xfrm>
            <a:off x="384048" y="4754880"/>
            <a:ext cx="8412480" cy="320040"/>
            <a:chOff x="384048" y="4535424"/>
            <a:chExt cx="8412480" cy="320040"/>
          </a:xfrm>
        </p:grpSpPr>
        <p:sp>
          <p:nvSpPr>
            <p:cNvPr id="46" name="Shape 44">
              <a:extLst>
                <a:ext uri="{FF2B5EF4-FFF2-40B4-BE49-F238E27FC236}">
                  <a16:creationId xmlns:a16="http://schemas.microsoft.com/office/drawing/2014/main" id="{B38040EE-A84C-426C-3EA9-244A55DDED12}"/>
                </a:ext>
              </a:extLst>
            </p:cNvPr>
            <p:cNvSpPr/>
            <p:nvPr/>
          </p:nvSpPr>
          <p:spPr>
            <a:xfrm>
              <a:off x="384048" y="4535424"/>
              <a:ext cx="8412480" cy="320040"/>
            </a:xfrm>
            <a:prstGeom prst="rect">
              <a:avLst/>
            </a:prstGeom>
            <a:solidFill>
              <a:srgbClr val="E6EFFE"/>
            </a:solidFill>
            <a:ln w="6350">
              <a:solidFill>
                <a:srgbClr val="CADCFC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Text 45">
              <a:extLst>
                <a:ext uri="{FF2B5EF4-FFF2-40B4-BE49-F238E27FC236}">
                  <a16:creationId xmlns:a16="http://schemas.microsoft.com/office/drawing/2014/main" id="{8E8D150E-1667-D95A-84D2-A66F9E4627E2}"/>
                </a:ext>
              </a:extLst>
            </p:cNvPr>
            <p:cNvSpPr/>
            <p:nvPr/>
          </p:nvSpPr>
          <p:spPr>
            <a:xfrm>
              <a:off x="475488" y="4567428"/>
              <a:ext cx="8229600" cy="24688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1E2761"/>
                  </a:solidFill>
                </a:rPr>
                <a:t>Both models confirm: Training variables have near-zero coefficients — feedback does not predict performance.</a:t>
              </a:r>
              <a:endParaRPr lang="en-US" sz="1000" dirty="0"/>
            </a:p>
          </p:txBody>
        </p:sp>
      </p:grpSp>
      <p:sp>
        <p:nvSpPr>
          <p:cNvPr id="49" name="Text 47">
            <a:extLst>
              <a:ext uri="{FF2B5EF4-FFF2-40B4-BE49-F238E27FC236}">
                <a16:creationId xmlns:a16="http://schemas.microsoft.com/office/drawing/2014/main" id="{C6996A7D-CAA6-DB36-1479-89DCAEC6A2C4}"/>
              </a:ext>
            </a:extLst>
          </p:cNvPr>
          <p:cNvSpPr/>
          <p:nvPr/>
        </p:nvSpPr>
        <p:spPr>
          <a:xfrm>
            <a:off x="365760" y="4626864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31D19C5-5D61-FCBB-EFDA-8C7E6BD66F19}"/>
              </a:ext>
            </a:extLst>
          </p:cNvPr>
          <p:cNvSpPr txBox="1"/>
          <p:nvPr/>
        </p:nvSpPr>
        <p:spPr>
          <a:xfrm>
            <a:off x="4864608" y="1657273"/>
            <a:ext cx="3656245" cy="22929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100" b="1" dirty="0">
                <a:latin typeface="Arial" panose="020B0604020202020204" pitchFamily="34" charset="0"/>
              </a:rPr>
              <a:t>Binary Outcome:</a:t>
            </a:r>
            <a:r>
              <a:rPr lang="en-US" altLang="en-US" sz="1100" dirty="0">
                <a:latin typeface="Arial" panose="020B0604020202020204" pitchFamily="34" charset="0"/>
              </a:rPr>
              <a:t> Dependent variable is binary (High / Low performer)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100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100" b="1" dirty="0">
                <a:latin typeface="Arial" panose="020B0604020202020204" pitchFamily="34" charset="0"/>
              </a:rPr>
              <a:t>Independence:</a:t>
            </a:r>
            <a:r>
              <a:rPr lang="en-US" altLang="en-US" sz="1100" dirty="0">
                <a:latin typeface="Arial" panose="020B0604020202020204" pitchFamily="34" charset="0"/>
              </a:rPr>
              <a:t> Observations are independent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100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100" b="1" dirty="0">
                <a:latin typeface="Arial" panose="020B0604020202020204" pitchFamily="34" charset="0"/>
              </a:rPr>
              <a:t>No Multicollinearity:</a:t>
            </a:r>
            <a:r>
              <a:rPr lang="en-US" altLang="en-US" sz="1100" dirty="0">
                <a:latin typeface="Arial" panose="020B0604020202020204" pitchFamily="34" charset="0"/>
              </a:rPr>
              <a:t> Predictors are not highly correlated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100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100" b="1" dirty="0">
                <a:latin typeface="Arial" panose="020B0604020202020204" pitchFamily="34" charset="0"/>
              </a:rPr>
              <a:t>Linearity of Logit:</a:t>
            </a:r>
            <a:r>
              <a:rPr lang="en-US" altLang="en-US" sz="1100" dirty="0">
                <a:latin typeface="Arial" panose="020B0604020202020204" pitchFamily="34" charset="0"/>
              </a:rPr>
              <a:t> Predictors have a linear relationship with log odds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100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100" b="1" dirty="0">
                <a:latin typeface="Arial" panose="020B0604020202020204" pitchFamily="34" charset="0"/>
              </a:rPr>
              <a:t>Sufficient Sample Size:</a:t>
            </a:r>
            <a:r>
              <a:rPr lang="en-US" altLang="en-US" sz="1100" dirty="0">
                <a:latin typeface="Arial" panose="020B0604020202020204" pitchFamily="34" charset="0"/>
              </a:rPr>
              <a:t> Enough data for stable classification </a:t>
            </a:r>
          </a:p>
        </p:txBody>
      </p:sp>
    </p:spTree>
    <p:extLst>
      <p:ext uri="{BB962C8B-B14F-4D97-AF65-F5344CB8AC3E}">
        <p14:creationId xmlns:p14="http://schemas.microsoft.com/office/powerpoint/2010/main" val="22054131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320040" cy="804672"/>
          </a:xfrm>
          <a:prstGeom prst="rect">
            <a:avLst/>
          </a:prstGeom>
          <a:solidFill>
            <a:srgbClr val="1620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18872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Results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530352"/>
            <a:ext cx="7315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BA3E8"/>
                </a:solidFill>
              </a:rPr>
              <a:t>Summary of all analytical findings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65760" y="932688"/>
            <a:ext cx="4206240" cy="19019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932688"/>
            <a:ext cx="4206240" cy="29260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969264"/>
            <a:ext cx="4023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Descriptive Analytics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298448"/>
            <a:ext cx="4005072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Mean ratings: 3.485 vs 3.468 - difference of only 0.017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High performer rate: ~49% in BOTH groups - virtually identical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65760" y="2926080"/>
            <a:ext cx="4206240" cy="19019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65760" y="2926080"/>
            <a:ext cx="4206240" cy="292608"/>
          </a:xfrm>
          <a:prstGeom prst="rect">
            <a:avLst/>
          </a:prstGeom>
          <a:solidFill>
            <a:srgbClr val="5B21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2962656"/>
            <a:ext cx="4023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Time Series Analysis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3291840"/>
            <a:ext cx="4005072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10 years of data (2013–2022) shows no consistent pattern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Lines cross 6 times - no stable advantage for regular feedback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800600" y="932688"/>
            <a:ext cx="4206240" cy="19019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800600" y="932688"/>
            <a:ext cx="4206240" cy="29260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892040" y="969264"/>
            <a:ext cx="4023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Inferential Analytics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92040" y="1298448"/>
            <a:ext cx="4005072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t-test: p = 0.501   |   ANOVA: p = 0.776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Chi-Square: p = 0.126   |   Correlation: p = 0.484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ALL 4 tests: Fail to Reject H0 (p &gt; 0.05)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800600" y="2926080"/>
            <a:ext cx="4206240" cy="19019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800600" y="2926080"/>
            <a:ext cx="4206240" cy="292608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892040" y="2962656"/>
            <a:ext cx="4023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Predictive Analytics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92040" y="3291840"/>
            <a:ext cx="4005072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Linear Regression R2 = 0.729 - driven by SelfRating (coef = 1.008)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Training coefficient = 0.000 - adds nothing to prediction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Logistic Regression accuracy = 84.4% - training not significant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65760" y="4956048"/>
            <a:ext cx="8412480" cy="29260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65760" y="4956048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ADCFC"/>
                </a:solidFill>
              </a:rPr>
              <a:t>Consistent finding across ALL 4 analytical approaches: No support for the statement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1620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620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6400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Final Decision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896112"/>
            <a:ext cx="8321040" cy="749808"/>
          </a:xfrm>
          <a:prstGeom prst="rect">
            <a:avLst/>
          </a:prstGeom>
          <a:solidFill>
            <a:srgbClr val="243580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11480" y="896112"/>
            <a:ext cx="91440" cy="749808"/>
          </a:xfrm>
          <a:prstGeom prst="rect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21792" y="941832"/>
            <a:ext cx="7955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ADCFC"/>
                </a:solidFill>
              </a:rPr>
              <a:t>DECISION: FAIL TO REJECT H0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21792" y="128016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BA3E8"/>
                </a:solidFill>
              </a:rPr>
              <a:t>The statement is NOT supported by the statistical evidence from this dataset.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11480" y="1755648"/>
            <a:ext cx="2706624" cy="2487168"/>
          </a:xfrm>
          <a:prstGeom prst="rect">
            <a:avLst/>
          </a:prstGeom>
          <a:solidFill>
            <a:srgbClr val="243580"/>
          </a:solidFill>
          <a:ln w="6350">
            <a:solidFill>
              <a:srgbClr val="2D4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11480" y="1755648"/>
            <a:ext cx="2706624" cy="274320"/>
          </a:xfrm>
          <a:prstGeom prst="rect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" y="1783080"/>
            <a:ext cx="2514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</a:rPr>
              <a:t>Why We Fail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" y="2084832"/>
            <a:ext cx="2523744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8BA3E8"/>
                </a:solidFill>
              </a:rPr>
              <a:t>All 4 inferential tests returned p &gt; 0.05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8BA3E8"/>
                </a:solidFill>
              </a:rPr>
              <a:t>Mean difference = 0.017 — negligible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8BA3E8"/>
                </a:solidFill>
              </a:rPr>
              <a:t>Time series: no consistent direction over 10 years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8BA3E8"/>
                </a:solidFill>
              </a:rPr>
              <a:t>Both regression training coefficients ≈ zero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27832" y="1755648"/>
            <a:ext cx="2706624" cy="2487168"/>
          </a:xfrm>
          <a:prstGeom prst="rect">
            <a:avLst/>
          </a:prstGeom>
          <a:solidFill>
            <a:srgbClr val="243580"/>
          </a:solidFill>
          <a:ln w="6350">
            <a:solidFill>
              <a:srgbClr val="2D4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227832" y="1755648"/>
            <a:ext cx="2706624" cy="274320"/>
          </a:xfrm>
          <a:prstGeom prst="rect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319272" y="1783080"/>
            <a:ext cx="2514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</a:rPr>
              <a:t>What This Means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319272" y="2084832"/>
            <a:ext cx="2523744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8BA3E8"/>
                </a:solidFill>
              </a:rPr>
              <a:t>H0 stands — no sufficient evidence for H1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8BA3E8"/>
                </a:solidFill>
              </a:rPr>
              <a:t>Feedback quantity does not predict performance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8BA3E8"/>
                </a:solidFill>
              </a:rPr>
              <a:t>High performer rate identical in both groups (~49%)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8BA3E8"/>
                </a:solidFill>
              </a:rPr>
              <a:t>This is a valid and important academic finding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044184" y="1755648"/>
            <a:ext cx="2706624" cy="2487168"/>
          </a:xfrm>
          <a:prstGeom prst="rect">
            <a:avLst/>
          </a:prstGeom>
          <a:solidFill>
            <a:srgbClr val="243580"/>
          </a:solidFill>
          <a:ln w="6350">
            <a:solidFill>
              <a:srgbClr val="2D4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044184" y="1755648"/>
            <a:ext cx="2706624" cy="27432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135624" y="1783080"/>
            <a:ext cx="2514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62055"/>
                </a:solidFill>
              </a:rPr>
              <a:t>What It Does NOT Mean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135624" y="2084832"/>
            <a:ext cx="2523744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8BA3E8"/>
                </a:solidFill>
              </a:rPr>
              <a:t>It does NOT mean feedback is useless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8BA3E8"/>
                </a:solidFill>
              </a:rPr>
              <a:t>It means THIS dataset cannot confirm the statement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8BA3E8"/>
                </a:solidFill>
              </a:rPr>
              <a:t>Proxy variable (training count) may miss quality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8BA3E8"/>
                </a:solidFill>
              </a:rPr>
              <a:t>Future research with better data may find different result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11480" y="4315968"/>
            <a:ext cx="8321040" cy="621792"/>
          </a:xfrm>
          <a:prstGeom prst="rect">
            <a:avLst/>
          </a:prstGeom>
          <a:solidFill>
            <a:srgbClr val="243580"/>
          </a:solidFill>
          <a:ln w="12700">
            <a:solidFill>
              <a:srgbClr val="2435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11480" y="4315968"/>
            <a:ext cx="91440" cy="621792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21792" y="4370832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97706"/>
                </a:solidFill>
              </a:rPr>
              <a:t>Limitation: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21792" y="4590288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BA3E8"/>
                </a:solidFill>
              </a:rPr>
              <a:t>TrainingOpportunitiesWithinYear is a proxy — measures frequency of sessions offered, not quality of feedback received.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320040" cy="804672"/>
          </a:xfrm>
          <a:prstGeom prst="rect">
            <a:avLst/>
          </a:prstGeom>
          <a:solidFill>
            <a:srgbClr val="1620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18872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Conclusion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530352"/>
            <a:ext cx="7315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BA3E8"/>
                </a:solidFill>
              </a:rPr>
              <a:t>Summary, limitations, and recommendations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65760" y="932688"/>
            <a:ext cx="8412480" cy="12070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75488" y="1024128"/>
            <a:ext cx="54864" cy="2743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85216" y="1024128"/>
            <a:ext cx="8119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</a:rPr>
              <a:t>Summary of Findings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5488" y="1353312"/>
            <a:ext cx="822960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We tested the statement from 4 analytical angles — descriptive, time series, inferential, and predictive analytics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All approaches consistently showed no significant relationship between feedback frequency and performance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The conclusion is robust — it is not an accident of one test, but consistent across every method applied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65760" y="2240280"/>
            <a:ext cx="416052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75488" y="2331720"/>
            <a:ext cx="54864" cy="2743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85216" y="2331720"/>
            <a:ext cx="3822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</a:rPr>
              <a:t>Limitations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5488" y="2651760"/>
            <a:ext cx="391363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Proxy variable — training session count measures frequency, not quality of feedback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Cross-sectional data — cannot establish cause and effect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Confounding variables not fully controlled (role, manager style)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663440" y="2240280"/>
            <a:ext cx="411480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773168" y="2331720"/>
            <a:ext cx="54864" cy="2743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882896" y="2331720"/>
            <a:ext cx="37307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</a:rPr>
              <a:t>Recommendations for Future Research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73168" y="2651760"/>
            <a:ext cx="38862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Collect direct qualitative feedback data — quality not just frequency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Use longitudinal tracking of same employees over time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Control for job role and department in future analysis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65760" y="4773168"/>
            <a:ext cx="8412480" cy="32004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65760" y="4773168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ADCFC"/>
                </a:solidFill>
              </a:rPr>
              <a:t>Thank You  —  IT3011 Group Assignment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6947</TotalTime>
  <Words>2246</Words>
  <Application>Microsoft Office PowerPoint</Application>
  <PresentationFormat>On-screen Show (16:9)</PresentationFormat>
  <Paragraphs>372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0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Nethma Weerasinghe</cp:lastModifiedBy>
  <cp:revision>11</cp:revision>
  <dcterms:created xsi:type="dcterms:W3CDTF">2026-04-08T05:01:30Z</dcterms:created>
  <dcterms:modified xsi:type="dcterms:W3CDTF">2026-05-02T20:16:22Z</dcterms:modified>
</cp:coreProperties>
</file>